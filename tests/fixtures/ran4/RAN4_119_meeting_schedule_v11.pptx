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29" r:id="rId4"/>
  </p:sldMasterIdLst>
  <p:notesMasterIdLst>
    <p:notesMasterId r:id="rId11"/>
  </p:notesMasterIdLst>
  <p:handoutMasterIdLst>
    <p:handoutMasterId r:id="rId12"/>
  </p:handoutMasterIdLst>
  <p:sldIdLst>
    <p:sldId id="256" r:id="rId5"/>
    <p:sldId id="1033" r:id="rId6"/>
    <p:sldId id="1034" r:id="rId7"/>
    <p:sldId id="1035" r:id="rId8"/>
    <p:sldId id="1036" r:id="rId9"/>
    <p:sldId id="1037" r:id="rId10"/>
  </p:sldIdLst>
  <p:sldSz cx="12192000" cy="6858000"/>
  <p:notesSz cx="7010400" cy="92964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drey2" initials="CA" lastIdx="2" clrIdx="0">
    <p:extLst>
      <p:ext uri="{19B8F6BF-5375-455C-9EA6-DF929625EA0E}">
        <p15:presenceInfo xmlns:p15="http://schemas.microsoft.com/office/powerpoint/2012/main" userId="Andrey2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9657"/>
    <a:srgbClr val="FF3300"/>
    <a:srgbClr val="2FBD71"/>
    <a:srgbClr val="0000FF"/>
    <a:srgbClr val="B1D254"/>
    <a:srgbClr val="009688"/>
    <a:srgbClr val="000000"/>
    <a:srgbClr val="D1DAE9"/>
    <a:srgbClr val="F0F3F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335" autoAdjust="0"/>
    <p:restoredTop sz="95301" autoAdjust="0"/>
  </p:normalViewPr>
  <p:slideViewPr>
    <p:cSldViewPr snapToGrid="0">
      <p:cViewPr varScale="1">
        <p:scale>
          <a:sx n="117" d="100"/>
          <a:sy n="117" d="100"/>
        </p:scale>
        <p:origin x="192" y="36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171" cy="4657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844" tIns="46423" rIns="92844" bIns="46423" numCol="1" anchor="t" anchorCtr="0" compatLnSpc="1">
            <a:prstTxWarp prst="textNoShape">
              <a:avLst/>
            </a:prstTxWarp>
          </a:bodyPr>
          <a:lstStyle>
            <a:lvl1pPr defTabSz="929256" eaLnBrk="1" hangingPunct="1">
              <a:defRPr sz="1200">
                <a:latin typeface="Times New Roman" pitchFamily="18" charset="0"/>
              </a:defRPr>
            </a:lvl1pPr>
          </a:lstStyle>
          <a:p>
            <a:endParaRPr lang="en-US" altLang="zh-CN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2232" y="0"/>
            <a:ext cx="3038170" cy="4657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844" tIns="46423" rIns="92844" bIns="46423" numCol="1" anchor="t" anchorCtr="0" compatLnSpc="1">
            <a:prstTxWarp prst="textNoShape">
              <a:avLst/>
            </a:prstTxWarp>
          </a:bodyPr>
          <a:lstStyle>
            <a:lvl1pPr algn="r" defTabSz="929256" eaLnBrk="1" hangingPunct="1">
              <a:defRPr sz="1200">
                <a:latin typeface="Times New Roman" pitchFamily="18" charset="0"/>
              </a:defRPr>
            </a:lvl1pPr>
          </a:lstStyle>
          <a:p>
            <a:endParaRPr lang="en-US" altLang="zh-CN" dirty="0"/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0682"/>
            <a:ext cx="3038171" cy="4657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844" tIns="46423" rIns="92844" bIns="46423" numCol="1" anchor="b" anchorCtr="0" compatLnSpc="1">
            <a:prstTxWarp prst="textNoShape">
              <a:avLst/>
            </a:prstTxWarp>
          </a:bodyPr>
          <a:lstStyle>
            <a:lvl1pPr defTabSz="929256" eaLnBrk="1" hangingPunct="1">
              <a:defRPr sz="1200">
                <a:latin typeface="Times New Roman" pitchFamily="18" charset="0"/>
              </a:defRPr>
            </a:lvl1pPr>
          </a:lstStyle>
          <a:p>
            <a:endParaRPr lang="en-US" altLang="zh-CN" dirty="0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2232" y="8830682"/>
            <a:ext cx="3038170" cy="4657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844" tIns="46423" rIns="92844" bIns="46423" numCol="1" anchor="b" anchorCtr="0" compatLnSpc="1">
            <a:prstTxWarp prst="textNoShape">
              <a:avLst/>
            </a:prstTxWarp>
          </a:bodyPr>
          <a:lstStyle>
            <a:lvl1pPr algn="r" defTabSz="929256" eaLnBrk="1" hangingPunct="1">
              <a:defRPr sz="1200">
                <a:latin typeface="Times New Roman" pitchFamily="18" charset="0"/>
              </a:defRPr>
            </a:lvl1pPr>
          </a:lstStyle>
          <a:p>
            <a:fld id="{867FF36F-819D-4D2B-A8BB-AF91032F0C08}" type="slidenum">
              <a:rPr lang="en-GB" altLang="en-US"/>
              <a:pPr/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5286934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171" cy="4657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844" tIns="46423" rIns="92844" bIns="46423" numCol="1" anchor="t" anchorCtr="0" compatLnSpc="1">
            <a:prstTxWarp prst="textNoShape">
              <a:avLst/>
            </a:prstTxWarp>
          </a:bodyPr>
          <a:lstStyle>
            <a:lvl1pPr defTabSz="929256" eaLnBrk="1" hangingPunct="1">
              <a:defRPr sz="1200">
                <a:latin typeface="Times New Roman" pitchFamily="18" charset="0"/>
              </a:defRPr>
            </a:lvl1pPr>
          </a:lstStyle>
          <a:p>
            <a:endParaRPr lang="en-US" altLang="zh-CN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2232" y="0"/>
            <a:ext cx="3038170" cy="4657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844" tIns="46423" rIns="92844" bIns="46423" numCol="1" anchor="t" anchorCtr="0" compatLnSpc="1">
            <a:prstTxWarp prst="textNoShape">
              <a:avLst/>
            </a:prstTxWarp>
          </a:bodyPr>
          <a:lstStyle>
            <a:lvl1pPr algn="r" defTabSz="929256" eaLnBrk="1" hangingPunct="1">
              <a:defRPr sz="1200">
                <a:latin typeface="Times New Roman" pitchFamily="18" charset="0"/>
              </a:defRPr>
            </a:lvl1pPr>
          </a:lstStyle>
          <a:p>
            <a:endParaRPr lang="en-US" altLang="zh-CN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6400" y="695325"/>
            <a:ext cx="61976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4061" y="4416091"/>
            <a:ext cx="5142280" cy="4183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844" tIns="46423" rIns="92844" bIns="464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0682"/>
            <a:ext cx="3038171" cy="4657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844" tIns="46423" rIns="92844" bIns="46423" numCol="1" anchor="b" anchorCtr="0" compatLnSpc="1">
            <a:prstTxWarp prst="textNoShape">
              <a:avLst/>
            </a:prstTxWarp>
          </a:bodyPr>
          <a:lstStyle>
            <a:lvl1pPr defTabSz="929256" eaLnBrk="1" hangingPunct="1">
              <a:defRPr sz="1200">
                <a:latin typeface="Times New Roman" pitchFamily="18" charset="0"/>
              </a:defRPr>
            </a:lvl1pPr>
          </a:lstStyle>
          <a:p>
            <a:endParaRPr lang="en-US" altLang="zh-CN" dirty="0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2232" y="8830682"/>
            <a:ext cx="3038170" cy="4657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844" tIns="46423" rIns="92844" bIns="46423" numCol="1" anchor="b" anchorCtr="0" compatLnSpc="1">
            <a:prstTxWarp prst="textNoShape">
              <a:avLst/>
            </a:prstTxWarp>
          </a:bodyPr>
          <a:lstStyle>
            <a:lvl1pPr algn="r" defTabSz="929256" eaLnBrk="1" hangingPunct="1">
              <a:defRPr sz="1200">
                <a:latin typeface="Times New Roman" pitchFamily="18" charset="0"/>
              </a:defRPr>
            </a:lvl1pPr>
          </a:lstStyle>
          <a:p>
            <a:fld id="{459FDB58-73C4-413E-BB6C-BBE882DFCE1B}" type="slidenum">
              <a:rPr lang="en-GB" altLang="en-US"/>
              <a:pPr/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06125037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29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59FDB58-73C4-413E-BB6C-BBE882DFCE1B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Arial" charset="0"/>
              </a:rPr>
              <a:pPr marL="0" marR="0" lvl="0" indent="0" algn="r" defTabSz="92925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82802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29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59FDB58-73C4-413E-BB6C-BBE882DFCE1B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Arial" charset="0"/>
              </a:rPr>
              <a:pPr marL="0" marR="0" lvl="0" indent="0" algn="r" defTabSz="92925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45286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29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59FDB58-73C4-413E-BB6C-BBE882DFCE1B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Arial" charset="0"/>
              </a:rPr>
              <a:pPr marL="0" marR="0" lvl="0" indent="0" algn="r" defTabSz="92925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29772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29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59FDB58-73C4-413E-BB6C-BBE882DFCE1B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Arial" charset="0"/>
              </a:rPr>
              <a:pPr marL="0" marR="0" lvl="0" indent="0" algn="r" defTabSz="92925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8112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38"/>
            <a:ext cx="10363200" cy="1470025"/>
          </a:xfrm>
        </p:spPr>
        <p:txBody>
          <a:bodyPr/>
          <a:lstStyle>
            <a:lvl1pPr>
              <a:defRPr sz="4000">
                <a:latin typeface="+mj-ea"/>
                <a:ea typeface="+mj-ea"/>
              </a:defRPr>
            </a:lvl1pPr>
          </a:lstStyle>
          <a:p>
            <a:r>
              <a:rPr lang="en-US" dirty="0"/>
              <a:t>Click to edit Master title style</a:t>
            </a:r>
            <a:endParaRPr lang="fi-FI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+mj-ea"/>
                <a:ea typeface="+mj-ea"/>
              </a:defRPr>
            </a:lvl1pPr>
            <a:lvl2pPr marL="457177" indent="0" algn="ctr">
              <a:buNone/>
              <a:defRPr/>
            </a:lvl2pPr>
            <a:lvl3pPr marL="914354" indent="0" algn="ctr">
              <a:buNone/>
              <a:defRPr/>
            </a:lvl3pPr>
            <a:lvl4pPr marL="1371531" indent="0" algn="ctr">
              <a:buNone/>
              <a:defRPr/>
            </a:lvl4pPr>
            <a:lvl5pPr marL="1828709" indent="0" algn="ctr">
              <a:buNone/>
              <a:defRPr/>
            </a:lvl5pPr>
            <a:lvl6pPr marL="2285886" indent="0" algn="ctr">
              <a:buNone/>
              <a:defRPr/>
            </a:lvl6pPr>
            <a:lvl7pPr marL="2743063" indent="0" algn="ctr">
              <a:buNone/>
              <a:defRPr/>
            </a:lvl7pPr>
            <a:lvl8pPr marL="3200240" indent="0" algn="ctr">
              <a:buNone/>
              <a:defRPr/>
            </a:lvl8pPr>
            <a:lvl9pPr marL="3657417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3112707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i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C394A-9E02-4841-ACC8-9EFF4DA633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+mj-ea"/>
                <a:ea typeface="+mj-ea"/>
              </a:defRPr>
            </a:lvl1pPr>
          </a:lstStyle>
          <a:p>
            <a:fld id="{F5492D28-9CB3-4957-BFD2-683A3D6260A5}" type="slidenum">
              <a:rPr lang="en-GB" altLang="en-US" smtClean="0"/>
              <a:pPr/>
              <a:t>‹#›</a:t>
            </a:fld>
            <a:endParaRPr lang="en-GB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FCFD951-EB5F-444C-A429-749DF9E84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72305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13"/>
            <a:ext cx="10363200" cy="1362075"/>
          </a:xfrm>
        </p:spPr>
        <p:txBody>
          <a:bodyPr anchor="t"/>
          <a:lstStyle>
            <a:lvl1pPr algn="l">
              <a:defRPr sz="4000" b="1" cap="all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  <a:endParaRPr lang="fi-FI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177" indent="0">
              <a:buNone/>
              <a:defRPr sz="1801"/>
            </a:lvl2pPr>
            <a:lvl3pPr marL="914354" indent="0">
              <a:buNone/>
              <a:defRPr sz="1600"/>
            </a:lvl3pPr>
            <a:lvl4pPr marL="1371531" indent="0">
              <a:buNone/>
              <a:defRPr sz="1401"/>
            </a:lvl4pPr>
            <a:lvl5pPr marL="1828709" indent="0">
              <a:buNone/>
              <a:defRPr sz="1401"/>
            </a:lvl5pPr>
            <a:lvl6pPr marL="2285886" indent="0">
              <a:buNone/>
              <a:defRPr sz="1401"/>
            </a:lvl6pPr>
            <a:lvl7pPr marL="2743063" indent="0">
              <a:buNone/>
              <a:defRPr sz="1401"/>
            </a:lvl7pPr>
            <a:lvl8pPr marL="3200240" indent="0">
              <a:buNone/>
              <a:defRPr sz="1401"/>
            </a:lvl8pPr>
            <a:lvl9pPr marL="3657417" indent="0">
              <a:buNone/>
              <a:defRPr sz="14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41478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6"/>
            <a:ext cx="5384800" cy="4525963"/>
          </a:xfrm>
        </p:spPr>
        <p:txBody>
          <a:bodyPr/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i-FI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6"/>
            <a:ext cx="5384800" cy="4525963"/>
          </a:xfrm>
        </p:spPr>
        <p:txBody>
          <a:bodyPr/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4171323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177" indent="0">
              <a:buNone/>
              <a:defRPr sz="2000" b="1"/>
            </a:lvl2pPr>
            <a:lvl3pPr marL="914354" indent="0">
              <a:buNone/>
              <a:defRPr sz="1801" b="1"/>
            </a:lvl3pPr>
            <a:lvl4pPr marL="1371531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80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i-FI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177" indent="0">
              <a:buNone/>
              <a:defRPr sz="2000" b="1"/>
            </a:lvl2pPr>
            <a:lvl3pPr marL="914354" indent="0">
              <a:buNone/>
              <a:defRPr sz="1801" b="1"/>
            </a:lvl3pPr>
            <a:lvl4pPr marL="1371531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6" y="2174875"/>
            <a:ext cx="5389033" cy="3951288"/>
          </a:xfrm>
        </p:spPr>
        <p:txBody>
          <a:bodyPr/>
          <a:lstStyle>
            <a:lvl1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80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220855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520819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119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6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1"/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217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77" indent="0">
              <a:buNone/>
              <a:defRPr sz="2800"/>
            </a:lvl2pPr>
            <a:lvl3pPr marL="914354" indent="0">
              <a:buNone/>
              <a:defRPr sz="2400"/>
            </a:lvl3pPr>
            <a:lvl4pPr marL="1371531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3" indent="0">
              <a:buNone/>
              <a:defRPr sz="2000"/>
            </a:lvl7pPr>
            <a:lvl8pPr marL="3200240" indent="0">
              <a:buNone/>
              <a:defRPr sz="2000"/>
            </a:lvl8pPr>
            <a:lvl9pPr marL="3657417" indent="0">
              <a:buNone/>
              <a:defRPr sz="2000"/>
            </a:lvl9pPr>
          </a:lstStyle>
          <a:p>
            <a:pPr lvl="0"/>
            <a:endParaRPr lang="fi-FI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1"/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82668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635652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5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5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9927235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4638"/>
            <a:ext cx="9112251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6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38601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2555285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4638"/>
            <a:ext cx="9112251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6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6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409670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green2.jpg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7309" y="6475413"/>
            <a:ext cx="486833" cy="239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8" descr="green.jpg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200" y="6456363"/>
            <a:ext cx="6189133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1" y="274638"/>
            <a:ext cx="9112251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  <a:endParaRPr lang="en-GB" altLang="en-US" dirty="0"/>
          </a:p>
        </p:txBody>
      </p:sp>
      <p:sp>
        <p:nvSpPr>
          <p:cNvPr id="102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6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 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  <a:endParaRPr lang="en-GB" alt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10960" y="6483350"/>
            <a:ext cx="527049" cy="222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100">
                <a:solidFill>
                  <a:schemeClr val="bg1"/>
                </a:solidFill>
                <a:latin typeface="Arial" charset="0"/>
              </a:defRPr>
            </a:lvl1pPr>
          </a:lstStyle>
          <a:p>
            <a:fld id="{F5492D28-9CB3-4957-BFD2-683A3D6260A5}" type="slidenum">
              <a:rPr lang="en-GB" altLang="en-US"/>
              <a:pPr/>
              <a:t>‹#›</a:t>
            </a:fld>
            <a:endParaRPr lang="en-GB" altLang="en-US" dirty="0"/>
          </a:p>
        </p:txBody>
      </p:sp>
      <p:sp>
        <p:nvSpPr>
          <p:cNvPr id="1032" name="Rectangle 6"/>
          <p:cNvSpPr>
            <a:spLocks noChangeArrowheads="1"/>
          </p:cNvSpPr>
          <p:nvPr/>
        </p:nvSpPr>
        <p:spPr bwMode="auto">
          <a:xfrm>
            <a:off x="1559984" y="5009401"/>
            <a:ext cx="6102349" cy="246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001" dirty="0">
                <a:solidFill>
                  <a:schemeClr val="bg1"/>
                </a:solidFill>
                <a:latin typeface="Arial" panose="020B0604020202020204" pitchFamily="34" charset="0"/>
              </a:rPr>
              <a:t>© 3GPP 2009     Mobile World Congress, Barcelona, 19</a:t>
            </a:r>
            <a:r>
              <a:rPr lang="en-GB" altLang="en-US" sz="1001" baseline="30000" dirty="0">
                <a:solidFill>
                  <a:schemeClr val="bg1"/>
                </a:solidFill>
                <a:latin typeface="Arial" panose="020B0604020202020204" pitchFamily="34" charset="0"/>
              </a:rPr>
              <a:t>th</a:t>
            </a:r>
            <a:r>
              <a:rPr lang="en-GB" altLang="en-US" sz="1001" dirty="0">
                <a:solidFill>
                  <a:schemeClr val="bg1"/>
                </a:solidFill>
                <a:latin typeface="Arial" panose="020B0604020202020204" pitchFamily="34" charset="0"/>
              </a:rPr>
              <a:t> February 2009</a:t>
            </a:r>
          </a:p>
        </p:txBody>
      </p:sp>
      <p:pic>
        <p:nvPicPr>
          <p:cNvPr id="1033" name="Picture 7" descr="green2.jpg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7309" y="6475413"/>
            <a:ext cx="486833" cy="239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6" name="Picture 13" descr="green2.jpg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7309" y="6475413"/>
            <a:ext cx="486833" cy="239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7" name="Rectangle 6"/>
          <p:cNvSpPr>
            <a:spLocks noChangeArrowheads="1"/>
          </p:cNvSpPr>
          <p:nvPr/>
        </p:nvSpPr>
        <p:spPr bwMode="auto">
          <a:xfrm>
            <a:off x="593777" y="6455545"/>
            <a:ext cx="957156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200" b="1" dirty="0">
                <a:solidFill>
                  <a:schemeClr val="bg1"/>
                </a:solidFill>
                <a:latin typeface="Arial" panose="020B0604020202020204" pitchFamily="34" charset="0"/>
              </a:rPr>
              <a:t>RAN WG4</a:t>
            </a:r>
          </a:p>
        </p:txBody>
      </p:sp>
      <p:sp>
        <p:nvSpPr>
          <p:cNvPr id="56334" name="Slide Number Placeholder 4"/>
          <p:cNvSpPr txBox="1">
            <a:spLocks noGrp="1"/>
          </p:cNvSpPr>
          <p:nvPr userDrawn="1"/>
        </p:nvSpPr>
        <p:spPr bwMode="auto">
          <a:xfrm>
            <a:off x="11432126" y="6464300"/>
            <a:ext cx="527049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/>
            <a:fld id="{E4DF48D0-4F83-437C-BDD1-C6E5F5F353CD}" type="slidenum">
              <a:rPr lang="en-GB" altLang="en-US" sz="1100">
                <a:solidFill>
                  <a:schemeClr val="bg1"/>
                </a:solidFill>
                <a:latin typeface="Arial" charset="0"/>
              </a:rPr>
              <a:pPr eaLnBrk="1" hangingPunct="1"/>
              <a:t>‹#›</a:t>
            </a:fld>
            <a:endParaRPr lang="en-GB" altLang="en-US" sz="1100" dirty="0">
              <a:solidFill>
                <a:schemeClr val="bg1"/>
              </a:solidFill>
              <a:latin typeface="Arial" charset="0"/>
            </a:endParaRPr>
          </a:p>
        </p:txBody>
      </p:sp>
      <p:pic>
        <p:nvPicPr>
          <p:cNvPr id="14" name="Picture 6" descr="3GPP_TM_RD.jpg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8563" y="373075"/>
            <a:ext cx="1493837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555" r:id="rId1"/>
    <p:sldLayoutId id="2147484556" r:id="rId2"/>
    <p:sldLayoutId id="2147484557" r:id="rId3"/>
    <p:sldLayoutId id="2147484558" r:id="rId4"/>
    <p:sldLayoutId id="2147484559" r:id="rId5"/>
    <p:sldLayoutId id="2147484560" r:id="rId6"/>
    <p:sldLayoutId id="2147484561" r:id="rId7"/>
    <p:sldLayoutId id="2147484562" r:id="rId8"/>
    <p:sldLayoutId id="2147484563" r:id="rId9"/>
    <p:sldLayoutId id="2147484564" r:id="rId10"/>
    <p:sldLayoutId id="2147484565" r:id="rId11"/>
    <p:sldLayoutId id="2147484566" r:id="rId12"/>
    <p:sldLayoutId id="2147484567" r:id="rId1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0000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0000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0000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0000"/>
          </a:solidFill>
          <a:latin typeface="Calibri" pitchFamily="34" charset="0"/>
        </a:defRPr>
      </a:lvl5pPr>
      <a:lvl6pPr marL="457177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0000"/>
          </a:solidFill>
          <a:latin typeface="Calibri" pitchFamily="34" charset="0"/>
        </a:defRPr>
      </a:lvl6pPr>
      <a:lvl7pPr marL="914354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0000"/>
          </a:solidFill>
          <a:latin typeface="Calibri" pitchFamily="34" charset="0"/>
        </a:defRPr>
      </a:lvl7pPr>
      <a:lvl8pPr marL="1371531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0000"/>
          </a:solidFill>
          <a:latin typeface="Calibri" pitchFamily="34" charset="0"/>
        </a:defRPr>
      </a:lvl8pPr>
      <a:lvl9pPr marL="1828709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0000"/>
          </a:solidFill>
          <a:latin typeface="Calibri" pitchFamily="34" charset="0"/>
        </a:defRPr>
      </a:lvl9pPr>
    </p:titleStyle>
    <p:bodyStyle>
      <a:lvl1pPr marL="342882" indent="-342882" algn="l" rtl="0" eaLnBrk="0" fontAlgn="base" hangingPunct="0">
        <a:spcBef>
          <a:spcPct val="20000"/>
        </a:spcBef>
        <a:spcAft>
          <a:spcPct val="0"/>
        </a:spcAft>
        <a:buBlip>
          <a:blip r:embed="rId18"/>
        </a:buBlip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13" indent="-285737" algn="l" rtl="0" eaLnBrk="0" fontAlgn="base" hangingPunct="0">
        <a:spcBef>
          <a:spcPct val="20000"/>
        </a:spcBef>
        <a:spcAft>
          <a:spcPct val="0"/>
        </a:spcAft>
        <a:buClr>
          <a:srgbClr val="C00000"/>
        </a:buClr>
        <a:buFont typeface="Arial" charset="0"/>
        <a:buChar char="•"/>
        <a:defRPr sz="2400">
          <a:solidFill>
            <a:schemeClr val="tx1"/>
          </a:solidFill>
          <a:latin typeface="+mn-lt"/>
        </a:defRPr>
      </a:lvl2pPr>
      <a:lvl3pPr marL="1142943" indent="-228589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000">
          <a:solidFill>
            <a:schemeClr val="tx1"/>
          </a:solidFill>
          <a:latin typeface="+mn-lt"/>
        </a:defRPr>
      </a:lvl3pPr>
      <a:lvl4pPr marL="1600121" indent="-228589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>
          <a:solidFill>
            <a:schemeClr val="tx1"/>
          </a:solidFill>
          <a:latin typeface="+mn-lt"/>
        </a:defRPr>
      </a:lvl4pPr>
      <a:lvl5pPr marL="2057298" indent="-228589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</a:defRPr>
      </a:lvl5pPr>
      <a:lvl6pPr marL="2514476" indent="-228589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600">
          <a:solidFill>
            <a:schemeClr val="tx1"/>
          </a:solidFill>
          <a:latin typeface="+mn-lt"/>
        </a:defRPr>
      </a:lvl6pPr>
      <a:lvl7pPr marL="2971652" indent="-228589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600">
          <a:solidFill>
            <a:schemeClr val="tx1"/>
          </a:solidFill>
          <a:latin typeface="+mn-lt"/>
        </a:defRPr>
      </a:lvl7pPr>
      <a:lvl8pPr marL="3428829" indent="-228589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600">
          <a:solidFill>
            <a:schemeClr val="tx1"/>
          </a:solidFill>
          <a:latin typeface="+mn-lt"/>
        </a:defRPr>
      </a:lvl8pPr>
      <a:lvl9pPr marL="3886007" indent="-228589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i-FI"/>
      </a:defPPr>
      <a:lvl1pPr marL="0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1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B4873-874C-3FA2-DF13-DB7BDF49C3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dirty="0"/>
              <a:t>RAN4#119 Meeting Schedule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42D0CA-1674-2528-C18C-5F76A0D414A3}"/>
              </a:ext>
            </a:extLst>
          </p:cNvPr>
          <p:cNvSpPr txBox="1"/>
          <p:nvPr/>
        </p:nvSpPr>
        <p:spPr>
          <a:xfrm>
            <a:off x="612396" y="343949"/>
            <a:ext cx="112160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10520363" algn="r"/>
              </a:tabLst>
            </a:pPr>
            <a:r>
              <a:rPr lang="en-US" dirty="0"/>
              <a:t>3GPP TSG RAN WG4 Meeting #119	</a:t>
            </a:r>
          </a:p>
          <a:p>
            <a:pPr>
              <a:tabLst>
                <a:tab pos="10520363" algn="r"/>
              </a:tabLst>
            </a:pPr>
            <a:r>
              <a:rPr lang="en-US" dirty="0"/>
              <a:t>Dalian, China, May 18-22, 2026</a:t>
            </a:r>
          </a:p>
        </p:txBody>
      </p:sp>
    </p:spTree>
    <p:extLst>
      <p:ext uri="{BB962C8B-B14F-4D97-AF65-F5344CB8AC3E}">
        <p14:creationId xmlns:p14="http://schemas.microsoft.com/office/powerpoint/2010/main" val="826560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653FC17-6DDA-4C90-8331-B521BC2AD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747" y="-222024"/>
            <a:ext cx="9263641" cy="1143001"/>
          </a:xfrm>
        </p:spPr>
        <p:txBody>
          <a:bodyPr/>
          <a:lstStyle/>
          <a:p>
            <a:r>
              <a:rPr 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Monday</a:t>
            </a:r>
            <a:endParaRPr lang="ru-RU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5206218"/>
              </p:ext>
            </p:extLst>
          </p:nvPr>
        </p:nvGraphicFramePr>
        <p:xfrm>
          <a:off x="339438" y="689513"/>
          <a:ext cx="11826068" cy="5650625"/>
        </p:xfrm>
        <a:graphic>
          <a:graphicData uri="http://schemas.openxmlformats.org/drawingml/2006/table">
            <a:tbl>
              <a:tblPr/>
              <a:tblGrid>
                <a:gridCol w="826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41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7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8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03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1012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Venue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Time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RAN4 Main (Yang Session)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RAN4  Breakout 1(BR1) </a:t>
                      </a: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(Shan Session)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RAN4 Breakout 2 (BR2)(Gene Session)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Ad hoc room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2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9:00-09:30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 Opening of the meeting </a:t>
                      </a: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2. Approval of the agenda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3. Letters / reports from other groups / meetings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</a:t>
                      </a:r>
                      <a:r>
                        <a:rPr kumimoji="0" lang="en-GB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 Incoming LS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5. On 6G TR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6. On spectrum and non-spectrum WI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2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9:30-10:30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[111] 6G RAN4 operation efficiency</a:t>
                      </a:r>
                      <a:endParaRPr kumimoji="0" lang="zh-CN" altLang="en-US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b-NO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FBD7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Rel-20 RRM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FBD7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[201] NR_RRM_Ph6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5G UE RF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[340] NR_UE_RF_Ph5 (16)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[341] NR_UE_RF_Ph5_Part2 (26)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FBD7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BR1 Ad-hoc: </a:t>
                      </a:r>
                    </a:p>
                    <a:p>
                      <a:pPr marL="0" marR="0" lvl="0" indent="0" algn="just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2FBD7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Rel-20 OTA</a:t>
                      </a: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FBD7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[212] </a:t>
                      </a:r>
                      <a:r>
                        <a:rPr kumimoji="0" lang="en-US" altLang="zh-CN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2FBD7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NR_UE_OTA_Enh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FBD7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, chaired by Ruixin Wang (vivo)</a:t>
                      </a: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FBD7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99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10:3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</a:t>
                      </a: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-11:00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茶歇</a:t>
                      </a: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2505560"/>
                  </a:ext>
                </a:extLst>
              </a:tr>
              <a:tr h="5372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11:00-13:00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[101] System Parameter()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b-NO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FBD7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Rel-20 RRM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FBD7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[202] NR_UAV_req_RRM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5G UE RF (</a:t>
                      </a:r>
                      <a:r>
                        <a:rPr kumimoji="0" lang="es-ES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cont</a:t>
                      </a:r>
                      <a:r>
                        <a:rPr kumimoji="0" lang="es-E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NTN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[346] NR_IoT_NTN_Ph2 (15)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Main Ad-hoc</a:t>
                      </a: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[105] 6G RRM Chaired by Jerry (Apple)</a:t>
                      </a: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979250"/>
                  </a:ext>
                </a:extLst>
              </a:tr>
              <a:tr h="1979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13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:00-14:30</a:t>
                      </a:r>
                      <a:endParaRPr kumimoji="0" lang="en-US" alt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Lunch break</a:t>
                      </a:r>
                      <a:endParaRPr kumimoji="0" lang="it-IT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800" b="1" i="0" u="none" strike="noStrike" kern="12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19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14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:30</a:t>
                      </a: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-16:30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[101] System Parameter()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b-NO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---3:</a:t>
                      </a: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</a:t>
                      </a: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0pm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[102] General RF and UE RF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b-NO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FBD7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Rel-20 AI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FBD7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[214] NR_AIML_air_Ph2</a:t>
                      </a:r>
                      <a:endParaRPr kumimoji="0" lang="nn-NO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FBD7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NTN (cont)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[347] NR_IoT_NTN_Ph2_Part2 (19)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[348] Study_NR_NTN_GNSS_resilient (15)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BR2 Ad-hoc: 5G BSRF (14:30 – 15:30)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[345] NR_BS_RF_Ph2, chaired by Torbjörn (Ericsson)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de-DE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FBD7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BR1 Ad-hoc: 6G testability/OTA (15:30-16:30)</a:t>
                      </a:r>
                      <a:endParaRPr kumimoji="0" lang="nn-NO" altLang="zh-CN" sz="800" b="1" i="0" u="none" strike="noStrike" kern="1200" cap="none" normalizeH="0" baseline="0" noProof="0" dirty="0">
                        <a:ln>
                          <a:noFill/>
                        </a:ln>
                        <a:solidFill>
                          <a:srgbClr val="2FBD7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FBD7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[213] 6G testability and OTA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FBD7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, chaired by Ruixin Wang (vivo)</a:t>
                      </a: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FBD7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79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16:3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</a:t>
                      </a: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-17:00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茶歇</a:t>
                      </a: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435348"/>
                  </a:ext>
                </a:extLst>
              </a:tr>
              <a:tr h="7796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7</a:t>
                      </a: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</a:t>
                      </a: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0-18:00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[102] General RF and UE RF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b-NO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[108] Spectrum </a:t>
                      </a:r>
                      <a:r>
                        <a:rPr kumimoji="0" lang="nb-NO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sharing</a:t>
                      </a: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FBD7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Rel-20 RRM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FBD7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[204] NR_MIMO_Ph6_RRM</a:t>
                      </a:r>
                      <a:endParaRPr lang="en-US" altLang="zh-CN" sz="800" strike="noStrike" kern="1200" dirty="0">
                        <a:solidFill>
                          <a:srgbClr val="2FBD7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800" strike="noStrike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NTN (</a:t>
                      </a:r>
                      <a:r>
                        <a:rPr kumimoji="0" lang="en-US" altLang="zh-CN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cont</a:t>
                      </a: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[349] LTE_TN_NR_NTN_handover (16)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[350] </a:t>
                      </a:r>
                      <a:r>
                        <a:rPr kumimoji="0" lang="en-US" altLang="zh-CN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LTE_IoT_NTN_high_power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(8)  [Moved to Tues]</a:t>
                      </a:r>
                      <a:endParaRPr kumimoji="0" lang="en-US" altLang="zh-CN" sz="800" b="1" i="0" u="none" strike="noStrike" kern="1200" cap="none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strike="noStrike" kern="1200" dirty="0">
                          <a:solidFill>
                            <a:srgbClr val="2FBD7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BR1 Ad-hoc</a:t>
                      </a:r>
                    </a:p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strike="noStrike" kern="1200" dirty="0">
                          <a:solidFill>
                            <a:srgbClr val="2FBD7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R20</a:t>
                      </a:r>
                      <a:r>
                        <a:rPr lang="en-US" altLang="zh-CN" sz="800" b="1" strike="noStrike" kern="1200" baseline="0" dirty="0">
                          <a:solidFill>
                            <a:srgbClr val="2FBD7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AI: 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FBD7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[214] NR_AIML_air_Ph2, Chaired by Tom (E///)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2FBD7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2FBD7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633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18:00-19:30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Main Ad-hoc: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[102-A] 6G General RF and UE RF, Chaired by Toni (Qualcomm)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FBD7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BR1 Ad-hoc: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FBD7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RRM Maintenance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FBD7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[215][216] RRM_Maintenance_Up_to_R17 &amp; RRM_Maintenance_R18_R19</a:t>
                      </a: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FBD7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, Chaired by Zhang Li (Huawei)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BR2 Ad-hoc:  Sensing coexistence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[362] 6G_Sensing, chaired by Fei (ZTE)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FBD7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BR1 Ad-hoc</a:t>
                      </a:r>
                      <a:r>
                        <a:rPr kumimoji="0" lang="nn-NO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FBD7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FBD7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[214] NR_AIML_air_Ph2, Chaired by Tom (E///)</a:t>
                      </a:r>
                      <a:endParaRPr kumimoji="0" lang="nn-NO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FBD7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0049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653FC17-6DDA-4C90-8331-B521BC2AD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52" y="130320"/>
            <a:ext cx="9263641" cy="1143001"/>
          </a:xfrm>
        </p:spPr>
        <p:txBody>
          <a:bodyPr/>
          <a:lstStyle/>
          <a:p>
            <a:r>
              <a:rPr 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Tuesday</a:t>
            </a:r>
            <a:endParaRPr lang="ru-RU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4045765"/>
              </p:ext>
            </p:extLst>
          </p:nvPr>
        </p:nvGraphicFramePr>
        <p:xfrm>
          <a:off x="230188" y="1123445"/>
          <a:ext cx="11384789" cy="6579595"/>
        </p:xfrm>
        <a:graphic>
          <a:graphicData uri="http://schemas.openxmlformats.org/drawingml/2006/table">
            <a:tbl>
              <a:tblPr/>
              <a:tblGrid>
                <a:gridCol w="6481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8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87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734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26139">
                  <a:extLst>
                    <a:ext uri="{9D8B030D-6E8A-4147-A177-3AD203B41FA5}">
                      <a16:colId xmlns:a16="http://schemas.microsoft.com/office/drawing/2014/main" val="3047229552"/>
                    </a:ext>
                  </a:extLst>
                </a:gridCol>
                <a:gridCol w="159542">
                  <a:extLst>
                    <a:ext uri="{9D8B030D-6E8A-4147-A177-3AD203B41FA5}">
                      <a16:colId xmlns:a16="http://schemas.microsoft.com/office/drawing/2014/main" val="2606388772"/>
                    </a:ext>
                  </a:extLst>
                </a:gridCol>
              </a:tblGrid>
              <a:tr h="18577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Venue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Time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RAN4 Main (Yang Session)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RAN4  Breakout 1(BR1) </a:t>
                      </a: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(Shan Session)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RAN4 Breakout 2 (BR2)(Gene Session)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Ad hoc room</a:t>
                      </a:r>
                      <a:endParaRPr kumimoji="0" lang="en-US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475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8:30-10:30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[107] 6G AI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(107-B and 107-A)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COFFEE break AH: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[101-B] System Parameter, Chaired by </a:t>
                      </a:r>
                      <a:r>
                        <a:rPr kumimoji="0" lang="en-US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Jinqiang</a:t>
                      </a: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(OPPO)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Rel-20 RRM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[206] NR_Mob_Ph5_RRM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[207] Ambient_IoT_Ph2_RRM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BR2 Ad-hoc: TN – NTN handover (8:00 – 9:00)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[349] LTE_TN_NR_NTN_handover, chaired by Lingyu (CATT) (8:00 – 8:30)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[306] papers on TEI-19 [NR_TN_NR NTN_HO_req] , chaired by Shiyuan (CMCC) (8:30 – 9:00)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BR2 Ad-hoc: 5G UE RF (9:00 – 10:00)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[340] NR_UE_RF_Ph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[341] NR_UE_RF_Ph5_Part2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Chaired by Alok (Nokia) and Tina (Samsung)</a:t>
                      </a:r>
                      <a:endParaRPr kumimoji="0" lang="en-US" altLang="zh-CN" sz="800" b="1" i="0" u="none" strike="noStrike" kern="1200" cap="none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BR2 Ad-hoc: NTN RF </a:t>
                      </a:r>
                      <a:r>
                        <a:rPr kumimoji="0" lang="en-US" altLang="zh-CN" sz="8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maint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(10:00 – 11:00), incl coffee break</a:t>
                      </a: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[301] </a:t>
                      </a:r>
                      <a:r>
                        <a:rPr kumimoji="0" 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NR_IoT_NTN_Maint_Legacy_RF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[305] </a:t>
                      </a:r>
                      <a:r>
                        <a:rPr kumimoji="0" lang="fr-F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NR_IoT_NTN_Maintenance</a:t>
                      </a:r>
                      <a:endParaRPr kumimoji="0" lang="fr-F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Chaired</a:t>
                      </a:r>
                      <a:r>
                        <a:rPr kumimoji="0" lang="fr-F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by Daniel (MTK)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BR1 Ad-hoc: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6G OTA</a:t>
                      </a:r>
                      <a:endParaRPr kumimoji="0" lang="de-DE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[213] 6G </a:t>
                      </a:r>
                      <a:r>
                        <a:rPr kumimoji="0" lang="de-DE" altLang="zh-CN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testability</a:t>
                      </a:r>
                      <a:r>
                        <a:rPr kumimoji="0" lang="de-DE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and OTA, </a:t>
                      </a:r>
                      <a:r>
                        <a:rPr kumimoji="0" lang="de-DE" altLang="zh-CN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Chaired</a:t>
                      </a:r>
                      <a:r>
                        <a:rPr kumimoji="0" lang="de-DE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0" lang="de-DE" altLang="zh-CN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by</a:t>
                      </a:r>
                      <a:r>
                        <a:rPr kumimoji="0" lang="de-DE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Ruixin Wang (vivo)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800" b="0" strike="noStrike" kern="1200" baseline="0" dirty="0"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078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10:30-11:00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茶歇</a:t>
                      </a: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2516519"/>
                  </a:ext>
                </a:extLst>
              </a:tr>
              <a:tr h="361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11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:00-13:00</a:t>
                      </a:r>
                      <a:endParaRPr kumimoji="0" lang="en-US" alt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[105] 6G RRM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Rel-20 </a:t>
                      </a:r>
                      <a:r>
                        <a:rPr kumimoji="0" lang="en-US" altLang="zh-CN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Demod</a:t>
                      </a:r>
                      <a:endParaRPr kumimoji="0" lang="nn-NO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just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[208] NR_demod_Ph6</a:t>
                      </a:r>
                    </a:p>
                    <a:p>
                      <a:pPr marL="0" marR="0" lvl="0" indent="0" algn="just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NTN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[350] </a:t>
                      </a:r>
                      <a:r>
                        <a:rPr kumimoji="0" lang="en-US" altLang="zh-CN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LTE_IoT_NTN_high_power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(8)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UE RF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[342] </a:t>
                      </a:r>
                      <a:r>
                        <a:rPr kumimoji="0" 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NR_low_band_CA_switching</a:t>
                      </a: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(11)</a:t>
                      </a:r>
                      <a:endParaRPr kumimoji="0" lang="nn-NO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Rel-20 UAV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[351] NR_UAV (15)</a:t>
                      </a: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BR2 Ad-hoc: Spectrum basket work items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[324] NR_CADC_SUL(</a:t>
                      </a:r>
                      <a:r>
                        <a:rPr kumimoji="0" lang="nn-NO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including</a:t>
                      </a: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band </a:t>
                      </a:r>
                      <a:r>
                        <a:rPr kumimoji="0" lang="nn-NO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combination</a:t>
                      </a: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database), </a:t>
                      </a:r>
                      <a:r>
                        <a:rPr kumimoji="0" lang="nn-NO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chaired</a:t>
                      </a: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by Per (Ericsson)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[323] </a:t>
                      </a:r>
                      <a:r>
                        <a:rPr kumimoji="0" lang="en-US" altLang="zh-CN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NTN_bands_Features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, chaired by Daniel (Apple)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13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:00-14:30</a:t>
                      </a:r>
                      <a:endParaRPr kumimoji="0" lang="en-US" alt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Lunch break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just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accent3">
                            <a:lumMod val="6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4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14:30-16:30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[101] System Parameter()</a:t>
                      </a: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---15:45---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[104] Spectrum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COFFEE break Ad-hoc</a:t>
                      </a: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[105] 6G RRM Chaired by Jerry (Apple)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Rel-20 RRM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[205] NR_AIML_Mob_RRM</a:t>
                      </a: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---15:30---</a:t>
                      </a: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Rel-20 </a:t>
                      </a:r>
                      <a:r>
                        <a:rPr kumimoji="0" lang="en-US" altLang="zh-CN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Demod</a:t>
                      </a:r>
                      <a:endParaRPr kumimoji="0" lang="nn-NO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[209] </a:t>
                      </a:r>
                      <a:r>
                        <a:rPr kumimoji="0" lang="en-US" altLang="zh-CN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FS_NR_demod_SCM</a:t>
                      </a: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6G SI: BSRF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[360] 6G_BSRF_requirements (31)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[361] 6G_BSRF_coexistence_AAS (43)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BR2 Ad-hoc: 1.5 GHz Japan (14:30 – 15:30)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zh-CN" sz="8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[118bis][327] NR_1.5GHz_Japan, </a:t>
                      </a:r>
                      <a:r>
                        <a:rPr kumimoji="0" lang="de-DE" altLang="zh-CN" sz="8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chaired</a:t>
                      </a:r>
                      <a:r>
                        <a:rPr kumimoji="0" lang="de-DE" altLang="zh-CN" sz="8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0" lang="de-DE" altLang="zh-CN" sz="8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by</a:t>
                      </a:r>
                      <a:r>
                        <a:rPr kumimoji="0" lang="de-DE" altLang="zh-CN" sz="8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Yasuki (KDDI)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BR2 Ad-hoc: </a:t>
                      </a:r>
                      <a:r>
                        <a:rPr kumimoji="0" lang="de-DE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NTN (15:30 – 16:30)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[348] GNSS resilient, chaired by Dorin (Thales)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23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16:3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</a:t>
                      </a: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-17:00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茶歇</a:t>
                      </a: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9311092"/>
                  </a:ext>
                </a:extLst>
              </a:tr>
              <a:tr h="361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17:00-18:00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[104] Spectrum</a:t>
                      </a:r>
                      <a:endParaRPr kumimoji="0" lang="nb-NO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Rel-20 RRM Cont.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[205] NR_AIML_Mob_RRM </a:t>
                      </a: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6G SI BSRF (cont)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Main Ad-hoc: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[111] 6G </a:t>
                      </a:r>
                      <a:r>
                        <a:rPr kumimoji="0" lang="fr-FR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operation</a:t>
                      </a: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0" lang="fr-FR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efficiency</a:t>
                      </a: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by </a:t>
                      </a:r>
                      <a:r>
                        <a:rPr kumimoji="0" lang="fr-FR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Aijun</a:t>
                      </a: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(CATT)</a:t>
                      </a:r>
                      <a:endParaRPr kumimoji="0" lang="en-GB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800" b="1" i="0" u="none" strike="noStrike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18:00-19:30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i="0" u="none" strike="noStrike" kern="1200" dirty="0"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Main Ad hoc: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[101-A] System Parameter, Chaired by Leo (Huawei)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BR1 Ad-hoc: </a:t>
                      </a: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[205] NR_AIML_Mob_RRM</a:t>
                      </a: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, Chaired by </a:t>
                      </a:r>
                      <a:r>
                        <a:rPr kumimoji="0" lang="en-US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Qiuge</a:t>
                      </a: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0" lang="en-US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Guo</a:t>
                      </a: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 (OPPO) </a:t>
                      </a: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BR2 </a:t>
                      </a:r>
                      <a:r>
                        <a:rPr kumimoji="0" lang="en-US" altLang="zh-CN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Adhoc</a:t>
                      </a: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 6G BSRF requirements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[360] 6G_BSRF_requirements, chaired by Dominique (Ericsson)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Main </a:t>
                      </a:r>
                      <a:r>
                        <a:rPr kumimoji="0" lang="fr-FR" altLang="zh-CN" sz="8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Ad-hoc</a:t>
                      </a:r>
                      <a:r>
                        <a:rPr kumimoji="0" lang="fr-FR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[111] 6G </a:t>
                      </a:r>
                      <a:r>
                        <a:rPr kumimoji="0" lang="fr-FR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operation</a:t>
                      </a: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0" lang="fr-FR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efficiency</a:t>
                      </a: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by </a:t>
                      </a:r>
                      <a:r>
                        <a:rPr kumimoji="0" lang="fr-FR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Aijun</a:t>
                      </a: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(CATT)</a:t>
                      </a:r>
                      <a:endParaRPr kumimoji="0" lang="en-GB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---18:15----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6G SI TR skeleton and process by Joe (AT&amp;T)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5555313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0DEE7935-2C66-0D48-659A-5B5A972B20B9}"/>
              </a:ext>
            </a:extLst>
          </p:cNvPr>
          <p:cNvSpPr/>
          <p:nvPr/>
        </p:nvSpPr>
        <p:spPr bwMode="auto">
          <a:xfrm>
            <a:off x="5159829" y="3352801"/>
            <a:ext cx="3280228" cy="38462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Tx/>
              <a:buBlip>
                <a:blip r:embed="rId3"/>
              </a:buBlip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1210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653FC17-6DDA-4C90-8331-B521BC2AD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52" y="-156892"/>
            <a:ext cx="9263641" cy="1143001"/>
          </a:xfrm>
        </p:spPr>
        <p:txBody>
          <a:bodyPr/>
          <a:lstStyle/>
          <a:p>
            <a:r>
              <a:rPr 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Wednesday</a:t>
            </a:r>
            <a:endParaRPr lang="ru-RU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0417653"/>
              </p:ext>
            </p:extLst>
          </p:nvPr>
        </p:nvGraphicFramePr>
        <p:xfrm>
          <a:off x="279894" y="541510"/>
          <a:ext cx="11510454" cy="6682250"/>
        </p:xfrm>
        <a:graphic>
          <a:graphicData uri="http://schemas.openxmlformats.org/drawingml/2006/table">
            <a:tbl>
              <a:tblPr/>
              <a:tblGrid>
                <a:gridCol w="7577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74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0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0648">
                  <a:extLst>
                    <a:ext uri="{9D8B030D-6E8A-4147-A177-3AD203B41FA5}">
                      <a16:colId xmlns:a16="http://schemas.microsoft.com/office/drawing/2014/main" val="1939966494"/>
                    </a:ext>
                  </a:extLst>
                </a:gridCol>
                <a:gridCol w="2697676">
                  <a:extLst>
                    <a:ext uri="{9D8B030D-6E8A-4147-A177-3AD203B41FA5}">
                      <a16:colId xmlns:a16="http://schemas.microsoft.com/office/drawing/2014/main" val="3750231385"/>
                    </a:ext>
                  </a:extLst>
                </a:gridCol>
                <a:gridCol w="116840">
                  <a:extLst>
                    <a:ext uri="{9D8B030D-6E8A-4147-A177-3AD203B41FA5}">
                      <a16:colId xmlns:a16="http://schemas.microsoft.com/office/drawing/2014/main" val="4112698755"/>
                    </a:ext>
                  </a:extLst>
                </a:gridCol>
              </a:tblGrid>
              <a:tr h="3715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Venue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Time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RAN4 Main (Yang Session)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RAN4  Breakout 1(BR1) </a:t>
                      </a: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(Shan Session)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RAN4 Breakout 2 (BR2)(Gene Session)</a:t>
                      </a:r>
                      <a:endParaRPr kumimoji="0" lang="en-US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Ad hoc room</a:t>
                      </a:r>
                      <a:endParaRPr kumimoji="0" lang="en-US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2907"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8:30-10:30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[107] 6G AI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COFFEE break[108] Spectrum </a:t>
                      </a:r>
                      <a:r>
                        <a:rPr kumimoji="0" lang="nb-NO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sharing</a:t>
                      </a: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by </a:t>
                      </a:r>
                      <a:r>
                        <a:rPr kumimoji="0" lang="nb-NO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Jingjing</a:t>
                      </a: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(CMCC)</a:t>
                      </a: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Rel-20 and 6G OTA</a:t>
                      </a:r>
                    </a:p>
                    <a:p>
                      <a:pPr marL="0" marR="0" lvl="0" indent="0" algn="just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[213] 6G testability and OTA</a:t>
                      </a:r>
                    </a:p>
                    <a:p>
                      <a:pPr marL="0" marR="0" lvl="0" indent="0" algn="just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[212] NR_UE_OTA_Enh</a:t>
                      </a: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just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BR2 Ad-hoc: UE RF LBCA (8:30 – 9:00)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[342] </a:t>
                      </a:r>
                      <a:r>
                        <a:rPr kumimoji="0" 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NR_low_band_CA_switching</a:t>
                      </a: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, chaired by James (Apple)</a:t>
                      </a:r>
                      <a:endParaRPr kumimoji="0" lang="nn-NO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5G BSRF (9:00 – 10:30)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[345] NR_BS_RF_Ph2 (15)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Ambient IoT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[352] A-</a:t>
                      </a:r>
                      <a:r>
                        <a:rPr kumimoji="0" lang="en-US" altLang="zh-CN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IoT_sys_outdoor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(34)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(Ambient IoT may start if [345] finishes early)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Coffee break offline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[363] 6G_Sensing, chaired by Mustafa (Qualcomm)</a:t>
                      </a:r>
                      <a:endParaRPr kumimoji="0" lang="en-US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strike="noStrike" kern="1200" dirty="0">
                          <a:solidFill>
                            <a:srgbClr val="1E9657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BR1 Ad-hoc: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[209] </a:t>
                      </a:r>
                      <a:r>
                        <a:rPr kumimoji="0" lang="en-US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FS_NR_demod_SCM</a:t>
                      </a: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, Chaired by Ryan (BT)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strike="noStrike" kern="120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---9:30---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BDaT Ad-hoc: IoT and NR NTN RRM maint (9:30 – 10:30)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[306] </a:t>
                      </a:r>
                      <a:r>
                        <a:rPr kumimoji="0" lang="fr-F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NR_IoT_NTN_Maintenance_RRM</a:t>
                      </a:r>
                      <a:r>
                        <a:rPr kumimoji="0" lang="fr-F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, </a:t>
                      </a:r>
                      <a:r>
                        <a:rPr kumimoji="0" lang="fr-F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chaired</a:t>
                      </a:r>
                      <a:r>
                        <a:rPr kumimoji="0" lang="fr-F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by Derrick (ZTE)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0" i="0" u="none" strike="sng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4716"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10:30-11:00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茶歇</a:t>
                      </a: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9554715"/>
                  </a:ext>
                </a:extLst>
              </a:tr>
              <a:tr h="8909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11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:00-13:00</a:t>
                      </a:r>
                      <a:endParaRPr kumimoji="0" lang="en-US" alt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[101] System Parameter()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6G OTA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[212] NR_UE_OTA_Enh</a:t>
                      </a: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---12:00---</a:t>
                      </a: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</a:t>
                      </a: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G </a:t>
                      </a:r>
                      <a:r>
                        <a:rPr kumimoji="0" lang="en-US" altLang="zh-CN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demod</a:t>
                      </a:r>
                      <a:endParaRPr kumimoji="0" lang="nn-NO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[210] 6G Demod_Part1</a:t>
                      </a:r>
                      <a:endParaRPr kumimoji="0" lang="nn-NO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Ambient IoT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[352] A-</a:t>
                      </a:r>
                      <a:r>
                        <a:rPr kumimoji="0" lang="en-US" altLang="zh-CN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IoT_sys_outdoor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(34)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[353] A-</a:t>
                      </a:r>
                      <a:r>
                        <a:rPr kumimoji="0" lang="en-US" altLang="zh-CN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IoT_indoor_test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(20)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BR2 Ad-hoc: BS RF maintenance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[303] BSRF_Maintenance_Legacy_TEI (18)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[304] BSRF_Maintenance_TEI (28)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(f time available)</a:t>
                      </a: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strike="noStrike" kern="1200" dirty="0"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BR1 Ad-hoc:</a:t>
                      </a:r>
                    </a:p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strike="noStrike" kern="1200" dirty="0"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R20</a:t>
                      </a:r>
                      <a:r>
                        <a:rPr lang="en-US" altLang="zh-CN" sz="800" b="1" strike="noStrike" kern="1200" baseline="0" dirty="0"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AI</a:t>
                      </a:r>
                      <a:endParaRPr lang="en-US" altLang="zh-CN" sz="800" b="1" strike="noStrike" kern="1200" dirty="0"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[214] NR_AIML_air_Ph2, Chaired by Tom (E///)</a:t>
                      </a: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---12:00-----</a:t>
                      </a: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[112] R19 </a:t>
                      </a:r>
                      <a:r>
                        <a:rPr kumimoji="0" lang="fr-FR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NR_AIML_air</a:t>
                      </a: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and </a:t>
                      </a: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[119] R19 NR AIML air </a:t>
                      </a:r>
                      <a:r>
                        <a:rPr kumimoji="0" lang="nb-NO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maintenance</a:t>
                      </a: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0" lang="en-GB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Chaired by Vali (Qualcomm)</a:t>
                      </a: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9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13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:00-14:30</a:t>
                      </a:r>
                      <a:endParaRPr kumimoji="0" lang="en-US" alt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Lunch break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just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accent3">
                            <a:lumMod val="6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548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14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:30</a:t>
                      </a: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-16: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</a:t>
                      </a:r>
                      <a:endParaRPr kumimoji="0" lang="en-US" alt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[105] 6G RRM()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COFFEE break </a:t>
                      </a: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[102-A] 6G General RF and UE RF, Chaired by Toni (Qualcomm)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</a:t>
                      </a: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G </a:t>
                      </a:r>
                      <a:r>
                        <a:rPr kumimoji="0" lang="en-US" altLang="zh-CN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demod</a:t>
                      </a:r>
                      <a:endParaRPr kumimoji="0" lang="nn-NO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[210] 6G Demod_Part1 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Cont.</a:t>
                      </a: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just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[211] 6G Demod_Part2</a:t>
                      </a:r>
                    </a:p>
                    <a:p>
                      <a:pPr marL="0" marR="0" lvl="0" indent="0" algn="just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6G SI: Sensing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[362] 6G_Sensing (25)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[363] 6G_Sensing (34)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Main Ad-hoc: </a:t>
                      </a: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[101-B] System Parameter, Chaired by </a:t>
                      </a:r>
                      <a:r>
                        <a:rPr kumimoji="0" lang="en-US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Jinqiang</a:t>
                      </a: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(OPPO)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---15:30---</a:t>
                      </a:r>
                      <a:endParaRPr kumimoji="0" lang="en-GB" altLang="zh-CN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BR2 Ad-Hoc: 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Ambient IoT system parameters (15:30 – 16:30)</a:t>
                      </a:r>
                      <a:endParaRPr kumimoji="0" lang="en-US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[352] A-IoT system parameters, chaired by Ling Lin (Huawei)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05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16:3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</a:t>
                      </a: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-17:00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茶歇</a:t>
                      </a: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968582"/>
                  </a:ext>
                </a:extLst>
              </a:tr>
              <a:tr h="5786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17:00-18:00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[102] General RF and UE RF ()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</a:t>
                      </a: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G </a:t>
                      </a:r>
                      <a:r>
                        <a:rPr kumimoji="0" lang="en-US" altLang="zh-CN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demod</a:t>
                      </a:r>
                      <a:endParaRPr kumimoji="0" lang="nn-NO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[211] 6G Demod_Part2 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Cont.</a:t>
                      </a: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6G SI: Sensing (cont)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Main Ad-hoc: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[105] 6G RRM Chaired by </a:t>
                      </a:r>
                      <a:r>
                        <a:rPr kumimoji="0" lang="en-US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Jinyup</a:t>
                      </a: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(LGE)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10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18:00-19:00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Main Ad hoc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[102-B] 6G General RF and UE RF, Chaired by </a:t>
                      </a:r>
                      <a:r>
                        <a:rPr kumimoji="0" lang="en-US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Haijie</a:t>
                      </a: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(Xiaomi)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i="0" u="none" strike="noStrike" kern="1200" dirty="0"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BR1 Ad hoc: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Demod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[208] NR_demod_Ph6, Chaired by </a:t>
                      </a:r>
                      <a:r>
                        <a:rPr kumimoji="0" lang="en-US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Jingzhou</a:t>
                      </a: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 Wu (China Telecom)</a:t>
                      </a:r>
                      <a:endParaRPr kumimoji="0" lang="en-US" altLang="zh-CN" sz="800" b="0" i="0" u="none" strike="sng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BR2 Ad-hoc: 6G coexistence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[361] 6G_BSRF_coexistence_AAS, </a:t>
                      </a:r>
                      <a:r>
                        <a:rPr kumimoji="0" lang="es-E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coexistence</a:t>
                      </a: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0" lang="es-E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part</a:t>
                      </a: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, </a:t>
                      </a:r>
                      <a:r>
                        <a:rPr kumimoji="0" lang="es-E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chaired</a:t>
                      </a: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0" lang="es-E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by</a:t>
                      </a: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Michal (Huawei)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Main Ad-hoc: </a:t>
                      </a: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[107-A] 6G AI, Chaired by Jackson (Samsung)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800" b="1" i="0" u="none" strike="noStrike" kern="1200" dirty="0"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0979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19:30 -22:00 RAN4 Dinner and Social Event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sng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800" b="1" i="0" u="none" strike="noStrike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98291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9922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5901543"/>
              </p:ext>
            </p:extLst>
          </p:nvPr>
        </p:nvGraphicFramePr>
        <p:xfrm>
          <a:off x="472193" y="787090"/>
          <a:ext cx="11247617" cy="6807243"/>
        </p:xfrm>
        <a:graphic>
          <a:graphicData uri="http://schemas.openxmlformats.org/drawingml/2006/table">
            <a:tbl>
              <a:tblPr/>
              <a:tblGrid>
                <a:gridCol w="8690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3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351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351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351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679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Venue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Time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RAN4 Main (Yang Session)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RAN4  Breakout 1(BR1) </a:t>
                      </a: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(Shan Session)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RAN4 Breakout 2 (BR2)(Gene Session)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Ad hoc room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8977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8:30-10:30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[112] R19 </a:t>
                      </a:r>
                      <a:r>
                        <a:rPr kumimoji="0" lang="fr-FR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NR_AIML_air</a:t>
                      </a: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(43)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COEFEE BREAK AH[102-B] 6G General RF and UE RF, Chaired by </a:t>
                      </a:r>
                      <a:r>
                        <a:rPr kumimoji="0" lang="en-US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Haijie</a:t>
                      </a: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(Xiaomi)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Rel-20 RRM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[203] NR_LBCA_Sw_enh_RRM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RRM Maintenance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[215] RRM_Maintenance_Up_to_R17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[216] RRM_Maintenance_R18_R19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</a:t>
                      </a:r>
                      <a:r>
                        <a:rPr kumimoji="0" lang="en-US" altLang="zh-CN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offee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break: </a:t>
                      </a: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[201] NR_RRM_Ph6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5G basket and spectrum WI</a:t>
                      </a:r>
                      <a:endParaRPr kumimoji="0" lang="en-GB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[320] NR_LTE_combos_Features_R20 (9)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[321] DC_xBLTE_yBNR_R20 (22)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[322] NR_bands_Features_R20 (0)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[323] NTN_Bands_Features_R20 (20)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[324] NR_CADC_SUL_R20 (51)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[325] NR_Bands_BW_PC_BC_RedCap (11)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[326] LTE_CA_xBDL_yBUL (0)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[327] NR_1.5GHz_Japan (18)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[328] NR_EESS_PC1_40GHz (9)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[329] </a:t>
                      </a: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New_CBW_5G_broadcast_over_GSO (5)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Coffee break offline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Segmented </a:t>
                      </a:r>
                      <a:r>
                        <a:rPr kumimoji="0" lang="en-US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precompensation</a:t>
                      </a: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, chaired by Rafhael (Nokia)</a:t>
                      </a:r>
                      <a:endParaRPr kumimoji="0" lang="nb-NO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BR1 Ad-hoc: </a:t>
                      </a:r>
                    </a:p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Demod</a:t>
                      </a: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[210] [211] 6G Demod_Part1&amp;Part2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068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10:30-11:00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b-NO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茶歇</a:t>
                      </a: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8618676"/>
                  </a:ext>
                </a:extLst>
              </a:tr>
              <a:tr h="14427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11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:00-13:00</a:t>
                      </a:r>
                      <a:endParaRPr kumimoji="0" lang="en-US" alt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Maintenance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[113] R19_spectrum_maintenance ()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[114] R19_UERF_maintenance_Part1()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[115] R19_UERF_maintenance_Part2 ()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[116] Upto_R17_UERF_maintenance</a:t>
                      </a: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()</a:t>
                      </a:r>
                      <a:endParaRPr kumimoji="0" lang="fr-FR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[117] R18_UERF_maintenance ()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[119] R19 NR AIML air </a:t>
                      </a:r>
                      <a:r>
                        <a:rPr kumimoji="0" lang="nb-NO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maintenance</a:t>
                      </a:r>
                      <a:endParaRPr kumimoji="0" lang="nb-NO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Demod and OTA Maintenance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[217] Demod_Maintenance_up_to_R17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[218] Demod_Maintenance_R18_R19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[219] </a:t>
                      </a:r>
                      <a:r>
                        <a:rPr kumimoji="0" lang="en-US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OTA_Maintenance</a:t>
                      </a: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Ad-hoc on </a:t>
                      </a: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[210] [211] 6G Demod_Part1&amp;Part2 after online disucssion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sng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5G Basket and spectrum (</a:t>
                      </a:r>
                      <a:r>
                        <a:rPr kumimoji="0" lang="en-US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cont</a:t>
                      </a: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Maintenance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[301] NR_IoT_NTN_Maint_Legacy_RF (40)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[302] NR_IoT_NTN_Maint_Legacy_Demod_TEI (5)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[303] BSRF_Maintenance_Legacy_TEI (18)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[304] BSRF_Maintenance_TEI (28)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[305] NR_IoT_NTN_Maintenance (21)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[306] NR_IoT_NTN_Maintenance_RRM (56)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[307] Ku_band_Maintenance (5)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[308] Ambient_IoT_Maintenance (9)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BR1 </a:t>
                      </a:r>
                      <a:r>
                        <a:rPr kumimoji="0" lang="nn-NO" altLang="zh-CN" sz="8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Ad-hoc: </a:t>
                      </a:r>
                      <a:endParaRPr lang="en-US" altLang="zh-CN" sz="800" b="1" strike="noStrike" kern="1200" dirty="0"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strike="noStrike" kern="1200" dirty="0"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R20</a:t>
                      </a:r>
                      <a:r>
                        <a:rPr lang="en-US" altLang="zh-CN" sz="800" b="1" strike="noStrike" kern="1200" baseline="0" dirty="0"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RRM</a:t>
                      </a:r>
                      <a:endParaRPr lang="en-US" altLang="zh-CN" sz="800" b="1" strike="noStrike" kern="1200" dirty="0"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[204] NR_MIMO_Ph6_RRM</a:t>
                      </a:r>
                      <a:r>
                        <a:rPr lang="en-US" altLang="zh-CN" sz="800" b="0" strike="noStrike" kern="1200" dirty="0"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, Chaired</a:t>
                      </a:r>
                      <a:r>
                        <a:rPr lang="en-US" altLang="zh-CN" sz="800" b="0" strike="noStrike" kern="1200" baseline="0" dirty="0"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by Miao Wang (</a:t>
                      </a:r>
                      <a:r>
                        <a:rPr lang="en-US" altLang="zh-CN" sz="800" b="0" strike="noStrike" kern="1200" baseline="0" dirty="0" err="1"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MediaTek</a:t>
                      </a:r>
                      <a:r>
                        <a:rPr lang="en-US" altLang="zh-CN" sz="800" b="0" strike="noStrike" kern="1200" baseline="0" dirty="0"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)</a:t>
                      </a:r>
                    </a:p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---12:00---</a:t>
                      </a: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[206] NR_Mob_Ph5_RRM</a:t>
                      </a:r>
                      <a:r>
                        <a:rPr lang="en-US" altLang="zh-CN" sz="800" strike="noStrike" kern="1200" dirty="0">
                          <a:solidFill>
                            <a:srgbClr val="1E9657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, Chaired by Roy Hu (OPPO)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869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13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:00-14:30</a:t>
                      </a:r>
                      <a:endParaRPr kumimoji="0" lang="en-US" alt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Lunch break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just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accent3">
                            <a:lumMod val="6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871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14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:30</a:t>
                      </a: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-16:30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EARLY RETURN TO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General RF and UE RF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Spectrum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Operational</a:t>
                      </a: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0" lang="fr-FR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efficiency</a:t>
                      </a:r>
                      <a:endParaRPr kumimoji="0" lang="fr-FR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Spectrum sharing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RRM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System </a:t>
                      </a:r>
                      <a:r>
                        <a:rPr kumimoji="0" lang="fr-FR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parameter</a:t>
                      </a:r>
                      <a:endParaRPr kumimoji="0" lang="fr-FR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Coffee break Ad-hoc: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[111] 6G operation efficiency by Aijun (CATT)</a:t>
                      </a:r>
                      <a:endParaRPr kumimoji="0" lang="en-GB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Ad-hoc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14:30 to 16:30 </a:t>
                      </a: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[205] NR_AIML_Mob_RRM</a:t>
                      </a: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Maintenance (</a:t>
                      </a:r>
                      <a:r>
                        <a:rPr kumimoji="0" lang="en-US" altLang="zh-CN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cont</a:t>
                      </a: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Ad-hoc:  6G </a:t>
                      </a:r>
                      <a:r>
                        <a:rPr kumimoji="0" lang="en-US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coex</a:t>
                      </a: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7 GHz Starting 14:45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6G coexistence, chaired by Michal (Huawei)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Coffee break offline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NTN-NTN coexistence, chaired by Michal</a:t>
                      </a:r>
                      <a:endParaRPr kumimoji="0" lang="nb-NO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BR2 Ad-hoc:</a:t>
                      </a: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NTN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[347] NR_IoT_NTN_Ph2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[346] NR_IoT_NTN_Ph2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Chaired by Jeffery (MTK) and Tank (CHTTL)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406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16:3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</a:t>
                      </a: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-17:00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b-NO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茶歇</a:t>
                      </a: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998595"/>
                  </a:ext>
                </a:extLst>
              </a:tr>
              <a:tr h="43728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17:00-18:00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-----17:15-----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Main Ad-hoc: </a:t>
                      </a: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[107-A] 6G AI, Chaired by Jackson (Samsung)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Ad-hoc or Early Return-to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BR2 Ad-hoc:  Rel-20 UAV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[351] NR_UAV chaired by Bin (Qualcomm)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i="0" u="none" strike="noStrike" kern="1200" dirty="0"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Main Ad hoc: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[104] Spectrum, Chaired by Johannes(Nokia)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sng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107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18:00-19:30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Main Ad-hoc: </a:t>
                      </a: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[107-B] 6G AI, Chaired by Santhan (Ericsson)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Ad-hoc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[213] 6G testability and OTA &amp; [212] </a:t>
                      </a:r>
                      <a:r>
                        <a:rPr kumimoji="0" lang="en-US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NR_UE_OTA_Enh</a:t>
                      </a: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, Chaired by </a:t>
                      </a:r>
                      <a:r>
                        <a:rPr kumimoji="0" lang="en-US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Ruixin</a:t>
                      </a: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 (vivo)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BR2 Ad-hoc: 6G Sensing </a:t>
                      </a:r>
                      <a:r>
                        <a:rPr kumimoji="0" lang="de-DE" altLang="zh-CN" sz="800" b="1" i="0" u="none" strike="sng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feasibility </a:t>
                      </a:r>
                      <a:r>
                        <a:rPr kumimoji="0" lang="de-DE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coex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[362] 6G_sensing coex, chaired by Fei (ZTE)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de-DE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i="0" u="none" strike="noStrike" kern="1200" dirty="0"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Main Ad hoc: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800" b="1" i="0" u="none" strike="noStrike" kern="1200" dirty="0"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[101] System Parameter, Chaired by Leo (Huawei)/</a:t>
                      </a:r>
                      <a:r>
                        <a:rPr kumimoji="0" lang="en-US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Jinqiang</a:t>
                      </a: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(OPPO)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4653FC17-6DDA-4C90-8331-B521BC2AD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192" y="-83247"/>
            <a:ext cx="9263641" cy="1143001"/>
          </a:xfrm>
        </p:spPr>
        <p:txBody>
          <a:bodyPr/>
          <a:lstStyle/>
          <a:p>
            <a:r>
              <a:rPr lang="en-US" altLang="zh-CN" b="1" dirty="0"/>
              <a:t>Thursday</a:t>
            </a:r>
            <a:endParaRPr lang="ru-RU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58377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653FC17-6DDA-4C90-8331-B521BC2AD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52" y="130320"/>
            <a:ext cx="9263641" cy="1143001"/>
          </a:xfrm>
        </p:spPr>
        <p:txBody>
          <a:bodyPr/>
          <a:lstStyle/>
          <a:p>
            <a:r>
              <a:rPr 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Friday</a:t>
            </a:r>
            <a:endParaRPr lang="ru-RU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7993303"/>
              </p:ext>
            </p:extLst>
          </p:nvPr>
        </p:nvGraphicFramePr>
        <p:xfrm>
          <a:off x="239391" y="1416731"/>
          <a:ext cx="11657335" cy="3187396"/>
        </p:xfrm>
        <a:graphic>
          <a:graphicData uri="http://schemas.openxmlformats.org/drawingml/2006/table">
            <a:tbl>
              <a:tblPr/>
              <a:tblGrid>
                <a:gridCol w="789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68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6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68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168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151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Venue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Time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RAN4 Main (Yang Session)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RAN4  Breakout 1(BR1) </a:t>
                      </a: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(Shan Session)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RAN4 Breakout 2 (BR2)(Gene Session)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Ad hoc room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8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8:00-10:30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i="0" u="none" strike="noStrike" kern="1200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Return to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6G system parameter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6G UE RF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6G spectrum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6G spectrum sharing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i="0" u="none" strike="noStrike" kern="1200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Return to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kern="1200" baseline="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5G PHY AI and AI mobility</a:t>
                      </a:r>
                      <a:endParaRPr lang="en-US" altLang="zh-CN" sz="800" b="0" i="0" u="none" strike="noStrike" kern="1200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5G</a:t>
                      </a:r>
                      <a:r>
                        <a:rPr lang="en-US" altLang="zh-CN" sz="800" b="0" i="0" u="none" strike="noStrike" kern="1200" baseline="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RRM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kern="1200" baseline="0" dirty="0" err="1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Demod</a:t>
                      </a:r>
                      <a:endParaRPr lang="en-US" altLang="zh-CN" sz="800" b="1" i="0" u="none" strike="noStrike" kern="1200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800" b="1" i="0" u="none" strike="noStrike" kern="1200" dirty="0">
                        <a:solidFill>
                          <a:srgbClr val="0000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Return to  </a:t>
                      </a: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(Start at 8:30)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NTN RRM (306)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NTN UE RF, SAN RF (301, 302, 305, 307)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Rel-20 NTN (346, 347, 348, 349, 350)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A-IoT (308, 352, 353)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UAV (351)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5G BSRF (303, 304, 345)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4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10:30-11:00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b-NO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茶歇</a:t>
                      </a: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8134724"/>
                  </a:ext>
                </a:extLst>
              </a:tr>
              <a:tr h="59067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11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:00-12:45</a:t>
                      </a:r>
                      <a:endParaRPr kumimoji="0" lang="en-US" alt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6G RRM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6G AI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6G operation efficiency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5GA R19 AI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5GA spectrum and RF maintenance 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i="0" u="none" strike="noStrike" kern="1200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Return to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kern="1200" dirty="0" err="1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Demod</a:t>
                      </a:r>
                      <a:r>
                        <a:rPr lang="en-US" altLang="zh-CN" sz="8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 Cont.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OTA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Return to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Spectrum (320, 321, 322, 323, 324, 325, 326, 327 328 329)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kern="120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5G UE RF (340, 341, 342)</a:t>
                      </a:r>
                      <a:endParaRPr lang="en-US" altLang="zh-CN" sz="800" b="0" i="0" u="none" strike="noStrike" kern="1200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6G BSRF and </a:t>
                      </a:r>
                      <a:r>
                        <a:rPr lang="en-US" altLang="zh-CN" sz="800" b="0" i="0" u="none" strike="noStrike" kern="1200" dirty="0" err="1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coex</a:t>
                      </a:r>
                      <a:r>
                        <a:rPr lang="en-US" altLang="zh-CN" sz="8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(360, 361)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6G Sensing (362, 363)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fr-FR" altLang="ja-JP" sz="800" b="1" dirty="0">
                        <a:solidFill>
                          <a:srgbClr val="00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67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12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:45</a:t>
                      </a: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-13:45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Lunch break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800" b="1" i="0" u="none" strike="noStrike" kern="1200" dirty="0">
                        <a:solidFill>
                          <a:srgbClr val="0000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800" b="1" i="0" u="none" strike="noStrike" kern="1200" dirty="0">
                        <a:solidFill>
                          <a:srgbClr val="0000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fr-FR" altLang="ja-JP" sz="8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553815"/>
                  </a:ext>
                </a:extLst>
              </a:tr>
              <a:tr h="3373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15:00-EOM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13 Any other business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14 Close of the meeting</a:t>
                      </a:r>
                      <a:endParaRPr lang="en-US" altLang="zh-CN" sz="800" b="1" i="0" u="none" strike="noStrike" kern="1200" dirty="0">
                        <a:solidFill>
                          <a:srgbClr val="0000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800" b="1" i="0" u="none" strike="noStrike" kern="1200" dirty="0">
                        <a:solidFill>
                          <a:srgbClr val="0000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i="0" u="none" strike="noStrike" kern="1200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Return to (final round)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i="0" u="none" strike="noStrike" kern="1200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Return to (final round)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fr-FR" altLang="ja-JP" sz="8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30979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3gpp">
  <a:themeElements>
    <a:clrScheme name="3gpp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ts val="600"/>
          </a:spcAft>
          <a:buClrTx/>
          <a:buSzTx/>
          <a:buFontTx/>
          <a:buBlip>
            <a:blip xmlns:r="http://schemas.openxmlformats.org/officeDocument/2006/relationships" r:embed="rId1"/>
          </a:buBlip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ts val="600"/>
          </a:spcAft>
          <a:buClrTx/>
          <a:buSzTx/>
          <a:buFontTx/>
          <a:buBlip>
            <a:blip xmlns:r="http://schemas.openxmlformats.org/officeDocument/2006/relationships" r:embed="rId1"/>
          </a:buBlip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</a:defRPr>
        </a:defPPr>
      </a:lstStyle>
    </a:lnDef>
  </a:objectDefaults>
  <a:extraClrSchemeLst>
    <a:extraClrScheme>
      <a:clrScheme name="3gpp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552158F8185D44A8848B98AEA319AF" ma:contentTypeVersion="12" ma:contentTypeDescription="Create a new document." ma:contentTypeScope="" ma:versionID="6a36ef4f892f86ce52de6a1653dbd950">
  <xsd:schema xmlns:xsd="http://www.w3.org/2001/XMLSchema" xmlns:xs="http://www.w3.org/2001/XMLSchema" xmlns:p="http://schemas.microsoft.com/office/2006/metadata/properties" xmlns:ns3="a915fe38-2618-47b6-8303-829fb71466d5" xmlns:ns4="23d77754-4ccc-4c57-9291-cab09e81894a" targetNamespace="http://schemas.microsoft.com/office/2006/metadata/properties" ma:root="true" ma:fieldsID="f7034ffd361f586299d0e2788fe1325b" ns3:_="" ns4:_="">
    <xsd:import namespace="a915fe38-2618-47b6-8303-829fb71466d5"/>
    <xsd:import namespace="23d77754-4ccc-4c57-9291-cab09e81894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15fe38-2618-47b6-8303-829fb7146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d77754-4ccc-4c57-9291-cab09e81894a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5C68143-B530-4487-9EA7-5BCC5970B48F}">
  <ds:schemaRefs>
    <ds:schemaRef ds:uri="http://schemas.microsoft.com/office/2006/documentManagement/types"/>
    <ds:schemaRef ds:uri="http://schemas.microsoft.com/office/infopath/2007/PartnerControls"/>
    <ds:schemaRef ds:uri="23d77754-4ccc-4c57-9291-cab09e81894a"/>
    <ds:schemaRef ds:uri="http://purl.org/dc/dcmitype/"/>
    <ds:schemaRef ds:uri="http://purl.org/dc/elements/1.1/"/>
    <ds:schemaRef ds:uri="http://schemas.microsoft.com/office/2006/metadata/properties"/>
    <ds:schemaRef ds:uri="http://purl.org/dc/terms/"/>
    <ds:schemaRef ds:uri="http://www.w3.org/XML/1998/namespace"/>
    <ds:schemaRef ds:uri="http://schemas.openxmlformats.org/package/2006/metadata/core-properties"/>
    <ds:schemaRef ds:uri="a915fe38-2618-47b6-8303-829fb71466d5"/>
  </ds:schemaRefs>
</ds:datastoreItem>
</file>

<file path=customXml/itemProps2.xml><?xml version="1.0" encoding="utf-8"?>
<ds:datastoreItem xmlns:ds="http://schemas.openxmlformats.org/officeDocument/2006/customXml" ds:itemID="{874266F6-0ED4-4E4E-9B55-710101289C5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915fe38-2618-47b6-8303-829fb71466d5"/>
    <ds:schemaRef ds:uri="23d77754-4ccc-4c57-9291-cab09e8189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F070948-0CB2-4F99-ACC8-E715860BC6B9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6c98d88-e344-4ed4-8496-4ed7712e255d}" enabled="0" method="" siteId="{46c98d88-e344-4ed4-8496-4ed7712e255d}" removed="1"/>
  <clbl:label id="{d747bccc-1f7a-43de-9506-0ef23dd23464}" enabled="1" method="Privileged" siteId="{98e9ba89-e1a1-4e38-9007-8bdabc25de1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623738</TotalTime>
  <Words>2786</Words>
  <Application>Microsoft Macintosh PowerPoint</Application>
  <PresentationFormat>Widescreen</PresentationFormat>
  <Paragraphs>459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微软雅黑</vt:lpstr>
      <vt:lpstr>Arial</vt:lpstr>
      <vt:lpstr>Arial Black</vt:lpstr>
      <vt:lpstr>Calibri</vt:lpstr>
      <vt:lpstr>Times New Roman</vt:lpstr>
      <vt:lpstr>3gpp</vt:lpstr>
      <vt:lpstr>RAN4#119 Meeting Schedule</vt:lpstr>
      <vt:lpstr>Monday</vt:lpstr>
      <vt:lpstr>Tuesday</vt:lpstr>
      <vt:lpstr>Wednesday</vt:lpstr>
      <vt:lpstr>Thursday</vt:lpstr>
      <vt:lpstr>Friday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RAN4 #118 meeting schedule</dc:title>
  <dc:creator>Administrator</dc:creator>
  <cp:keywords>CTPClassification=CTP_NT</cp:keywords>
  <cp:lastModifiedBy>Yang Tang</cp:lastModifiedBy>
  <cp:revision>4444</cp:revision>
  <cp:lastPrinted>2016-09-15T08:31:35Z</cp:lastPrinted>
  <dcterms:created xsi:type="dcterms:W3CDTF">2009-11-27T05:15:11Z</dcterms:created>
  <dcterms:modified xsi:type="dcterms:W3CDTF">2026-05-21T16:13:13Z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  <property fmtid="{D5CDD505-2E9C-101B-9397-08002B2CF9AE}" pid="3" name="TitusGUID">
    <vt:lpwstr>6f9c0495-a83c-462b-8664-67016d5bf2d5</vt:lpwstr>
  </property>
  <property fmtid="{D5CDD505-2E9C-101B-9397-08002B2CF9AE}" pid="4" name="CTP_TimeStamp">
    <vt:lpwstr>2020-06-04 10:01:06Z</vt:lpwstr>
  </property>
  <property fmtid="{D5CDD505-2E9C-101B-9397-08002B2CF9AE}" pid="5" name="CTP_BU">
    <vt:lpwstr>NA</vt:lpwstr>
  </property>
  <property fmtid="{D5CDD505-2E9C-101B-9397-08002B2CF9AE}" pid="6" name="CTP_IDSID">
    <vt:lpwstr>NA</vt:lpwstr>
  </property>
  <property fmtid="{D5CDD505-2E9C-101B-9397-08002B2CF9AE}" pid="7" name="CTP_WWID">
    <vt:lpwstr>NA</vt:lpwstr>
  </property>
  <property fmtid="{D5CDD505-2E9C-101B-9397-08002B2CF9AE}" pid="8" name="CTPClassification">
    <vt:lpwstr>CTP_NT</vt:lpwstr>
  </property>
  <property fmtid="{D5CDD505-2E9C-101B-9397-08002B2CF9AE}" pid="9" name="ContentTypeId">
    <vt:lpwstr>0x010100F2552158F8185D44A8848B98AEA319AF</vt:lpwstr>
  </property>
  <property fmtid="{D5CDD505-2E9C-101B-9397-08002B2CF9AE}" pid="10" name="_2015_ms_pID_725343">
    <vt:lpwstr>(3)WmCX6XJXnVGYXJet/b3Cj8Rn7P85nC/Cu/Iv04k3M5rgJfICxdLbw0IbFfZbsZTDgXvh19dg
LZAQ8DvGq0yxnJm6oaoPZcJxJj7cT96WpFjVFCYDEfWZBGGLg0Hk7yiICIawbHPmphpNxd4d
NXIhFfCL8uuLn5Mf1lOCr0UG6iGdNowsUKmiqgEY/9lVNg1dohnQ3NyAwOOwT9vQOjw2IxrA
NP4gXAZDSgGLq/h2PN</vt:lpwstr>
  </property>
  <property fmtid="{D5CDD505-2E9C-101B-9397-08002B2CF9AE}" pid="11" name="_2015_ms_pID_7253431">
    <vt:lpwstr>H8aKn1tKtJkz0uZ5pdba1vdFQx2H6oSmdQ9HF3vykmrih/07Pra3Dd
s5GYVd+6uIn1eoaajDgTee4bvz2dkce8aPxsZ63AMleypWNeC/VutvSdbhBxdLZZEMLSbfS+
3/pmGq2g6cfO1GOY4K1ER1nIPxQMcMRLaUIWc5fV0A2zfPey8DiH86nOW+3fe6sA3YApjGWJ
d3VT8M6oyU5MWIdQwfBweVp7iLgPjr7vKCEQ</vt:lpwstr>
  </property>
  <property fmtid="{D5CDD505-2E9C-101B-9397-08002B2CF9AE}" pid="12" name="_2015_ms_pID_7253432">
    <vt:lpwstr>vv4OgNkLvT4KwGFYJJzDz94=</vt:lpwstr>
  </property>
  <property fmtid="{D5CDD505-2E9C-101B-9397-08002B2CF9AE}" pid="13" name="_readonly">
    <vt:lpwstr/>
  </property>
  <property fmtid="{D5CDD505-2E9C-101B-9397-08002B2CF9AE}" pid="14" name="_change">
    <vt:lpwstr/>
  </property>
  <property fmtid="{D5CDD505-2E9C-101B-9397-08002B2CF9AE}" pid="15" name="_full-control">
    <vt:lpwstr/>
  </property>
  <property fmtid="{D5CDD505-2E9C-101B-9397-08002B2CF9AE}" pid="16" name="sflag">
    <vt:lpwstr>1744642617</vt:lpwstr>
  </property>
</Properties>
</file>