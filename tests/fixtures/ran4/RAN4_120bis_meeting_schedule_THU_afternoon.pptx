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9" r:id="rId4"/>
  </p:sldMasterIdLst>
  <p:notesMasterIdLst>
    <p:notesMasterId r:id="rId11"/>
  </p:notesMasterIdLst>
  <p:handoutMasterIdLst>
    <p:handoutMasterId r:id="rId12"/>
  </p:handoutMasterIdLst>
  <p:sldIdLst>
    <p:sldId id="256" r:id="rId5"/>
    <p:sldId id="1033" r:id="rId6"/>
    <p:sldId id="1034" r:id="rId7"/>
    <p:sldId id="1035" r:id="rId8"/>
    <p:sldId id="1036" r:id="rId9"/>
    <p:sldId id="1037" r:id="rId10"/>
  </p:sldIdLst>
  <p:sldSz cx="12192000" cy="6858000"/>
  <p:notesSz cx="7010400" cy="9296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2" initials="CA" lastIdx="2" clrIdx="0">
    <p:extLst>
      <p:ext uri="{19B8F6BF-5375-455C-9EA6-DF929625EA0E}">
        <p15:presenceInfo xmlns:p15="http://schemas.microsoft.com/office/powerpoint/2012/main" userId="Andrey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657"/>
    <a:srgbClr val="2FBD71"/>
    <a:srgbClr val="FF3300"/>
    <a:srgbClr val="B1D254"/>
    <a:srgbClr val="009688"/>
    <a:srgbClr val="000000"/>
    <a:srgbClr val="D1DAE9"/>
    <a:srgbClr val="F0F3F8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76" autoAdjust="0"/>
    <p:restoredTop sz="96192" autoAdjust="0"/>
  </p:normalViewPr>
  <p:slideViewPr>
    <p:cSldViewPr snapToGrid="0">
      <p:cViewPr varScale="1">
        <p:scale>
          <a:sx n="120" d="100"/>
          <a:sy n="120" d="100"/>
        </p:scale>
        <p:origin x="192" y="2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232" y="0"/>
            <a:ext cx="3038170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682"/>
            <a:ext cx="3038171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232" y="8830682"/>
            <a:ext cx="3038170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fld id="{867FF36F-819D-4D2B-A8BB-AF91032F0C08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28693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32" y="0"/>
            <a:ext cx="3038170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5325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061" y="4416091"/>
            <a:ext cx="5142280" cy="4183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682"/>
            <a:ext cx="3038171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32" y="8830682"/>
            <a:ext cx="3038170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fld id="{459FDB58-73C4-413E-BB6C-BBE882DFCE1B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61250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80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52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977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11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>
            <a:lvl1pPr>
              <a:defRPr sz="4000"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+mj-ea"/>
                <a:ea typeface="+mj-ea"/>
              </a:defRPr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1270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C394A-9E02-4841-ACC8-9EFF4DA63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F5492D28-9CB3-4957-BFD2-683A3D6260A5}" type="slidenum">
              <a:rPr lang="en-GB" altLang="en-US" smtClean="0"/>
              <a:pPr/>
              <a:t>‹#›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CFD951-EB5F-444C-A429-749DF9E8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230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47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7132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2085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081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1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1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fi-FI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266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3565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5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5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92723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91122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601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55528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91122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967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8" descr="green.jpg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6456363"/>
            <a:ext cx="618913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274638"/>
            <a:ext cx="91122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en-GB" alt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6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GB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60" y="6483350"/>
            <a:ext cx="527049" cy="222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fld id="{F5492D28-9CB3-4957-BFD2-683A3D6260A5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auto">
          <a:xfrm>
            <a:off x="1559984" y="5009401"/>
            <a:ext cx="6102349" cy="246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001" dirty="0">
                <a:solidFill>
                  <a:schemeClr val="bg1"/>
                </a:solidFill>
                <a:latin typeface="Arial" panose="020B0604020202020204" pitchFamily="34" charset="0"/>
              </a:rPr>
              <a:t>© 3GPP 2009     Mobile World Congress, Barcelona, 19</a:t>
            </a:r>
            <a:r>
              <a:rPr lang="en-GB" altLang="en-US" sz="1001" baseline="30000" dirty="0">
                <a:solidFill>
                  <a:schemeClr val="bg1"/>
                </a:solidFill>
                <a:latin typeface="Arial" panose="020B0604020202020204" pitchFamily="34" charset="0"/>
              </a:rPr>
              <a:t>th</a:t>
            </a:r>
            <a:r>
              <a:rPr lang="en-GB" altLang="en-US" sz="1001" dirty="0">
                <a:solidFill>
                  <a:schemeClr val="bg1"/>
                </a:solidFill>
                <a:latin typeface="Arial" panose="020B0604020202020204" pitchFamily="34" charset="0"/>
              </a:rPr>
              <a:t> February 2009</a:t>
            </a:r>
          </a:p>
        </p:txBody>
      </p:sp>
      <p:pic>
        <p:nvPicPr>
          <p:cNvPr id="1033" name="Picture 7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3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Rectangle 6"/>
          <p:cNvSpPr>
            <a:spLocks noChangeArrowheads="1"/>
          </p:cNvSpPr>
          <p:nvPr/>
        </p:nvSpPr>
        <p:spPr bwMode="auto">
          <a:xfrm>
            <a:off x="593777" y="6455545"/>
            <a:ext cx="957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200" b="1" dirty="0">
                <a:solidFill>
                  <a:schemeClr val="bg1"/>
                </a:solidFill>
                <a:latin typeface="Arial" panose="020B0604020202020204" pitchFamily="34" charset="0"/>
              </a:rPr>
              <a:t>RAN WG4</a:t>
            </a:r>
          </a:p>
        </p:txBody>
      </p:sp>
      <p:sp>
        <p:nvSpPr>
          <p:cNvPr id="56334" name="Slide Number Placeholder 4"/>
          <p:cNvSpPr txBox="1">
            <a:spLocks noGrp="1"/>
          </p:cNvSpPr>
          <p:nvPr userDrawn="1"/>
        </p:nvSpPr>
        <p:spPr bwMode="auto">
          <a:xfrm>
            <a:off x="11432126" y="6464300"/>
            <a:ext cx="527049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fld id="{E4DF48D0-4F83-437C-BDD1-C6E5F5F353CD}" type="slidenum">
              <a:rPr lang="en-GB" altLang="en-US" sz="1100">
                <a:solidFill>
                  <a:schemeClr val="bg1"/>
                </a:solidFill>
                <a:latin typeface="Arial" charset="0"/>
              </a:rPr>
              <a:pPr eaLnBrk="1" hangingPunct="1"/>
              <a:t>‹#›</a:t>
            </a:fld>
            <a:endParaRPr lang="en-GB" altLang="en-US" sz="11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4" name="Picture 6" descr="3GPP_TM_RD.jpg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563" y="373075"/>
            <a:ext cx="149383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55" r:id="rId1"/>
    <p:sldLayoutId id="2147484556" r:id="rId2"/>
    <p:sldLayoutId id="2147484557" r:id="rId3"/>
    <p:sldLayoutId id="2147484558" r:id="rId4"/>
    <p:sldLayoutId id="2147484559" r:id="rId5"/>
    <p:sldLayoutId id="2147484560" r:id="rId6"/>
    <p:sldLayoutId id="2147484561" r:id="rId7"/>
    <p:sldLayoutId id="2147484562" r:id="rId8"/>
    <p:sldLayoutId id="2147484563" r:id="rId9"/>
    <p:sldLayoutId id="2147484564" r:id="rId10"/>
    <p:sldLayoutId id="2147484565" r:id="rId11"/>
    <p:sldLayoutId id="2147484566" r:id="rId12"/>
    <p:sldLayoutId id="2147484567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5pPr>
      <a:lvl6pPr marL="457177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6pPr>
      <a:lvl7pPr marL="914354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7pPr>
      <a:lvl8pPr marL="1371531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8pPr>
      <a:lvl9pPr marL="1828709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9pPr>
    </p:titleStyle>
    <p:bodyStyle>
      <a:lvl1pPr marL="342882" indent="-342882" algn="l" rtl="0" eaLnBrk="0" fontAlgn="base" hangingPunct="0">
        <a:spcBef>
          <a:spcPct val="20000"/>
        </a:spcBef>
        <a:spcAft>
          <a:spcPct val="0"/>
        </a:spcAft>
        <a:buBlip>
          <a:blip r:embed="rId18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400">
          <a:solidFill>
            <a:schemeClr val="tx1"/>
          </a:solidFill>
          <a:latin typeface="+mn-lt"/>
        </a:defRPr>
      </a:lvl2pPr>
      <a:lvl3pPr marL="1142943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3pPr>
      <a:lvl4pPr marL="1600121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>
          <a:solidFill>
            <a:schemeClr val="tx1"/>
          </a:solidFill>
          <a:latin typeface="+mn-lt"/>
        </a:defRPr>
      </a:lvl4pPr>
      <a:lvl5pPr marL="2057298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476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6pPr>
      <a:lvl7pPr marL="2971652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7pPr>
      <a:lvl8pPr marL="3428829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8pPr>
      <a:lvl9pPr marL="3886007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i-FI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4873-874C-3FA2-DF13-DB7BDF49C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RAN4#120bis Meeting Schedule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2D0CA-1674-2528-C18C-5F76A0D414A3}"/>
              </a:ext>
            </a:extLst>
          </p:cNvPr>
          <p:cNvSpPr txBox="1"/>
          <p:nvPr/>
        </p:nvSpPr>
        <p:spPr>
          <a:xfrm>
            <a:off x="612396" y="343949"/>
            <a:ext cx="11216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0520363" algn="r"/>
              </a:tabLst>
            </a:pPr>
            <a:r>
              <a:rPr lang="en-US" dirty="0"/>
              <a:t>3GPP TSG RAN WG4 Meeting #120bis	</a:t>
            </a:r>
          </a:p>
          <a:p>
            <a:pPr>
              <a:tabLst>
                <a:tab pos="10520363" algn="r"/>
              </a:tabLst>
            </a:pPr>
            <a:r>
              <a:rPr lang="en-US" dirty="0"/>
              <a:t>Jeju, South Korea, Oct. 12-16, 2026</a:t>
            </a:r>
          </a:p>
        </p:txBody>
      </p:sp>
    </p:spTree>
    <p:extLst>
      <p:ext uri="{BB962C8B-B14F-4D97-AF65-F5344CB8AC3E}">
        <p14:creationId xmlns:p14="http://schemas.microsoft.com/office/powerpoint/2010/main" val="82656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747" y="-222024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Monday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287012"/>
              </p:ext>
            </p:extLst>
          </p:nvPr>
        </p:nvGraphicFramePr>
        <p:xfrm>
          <a:off x="339438" y="689513"/>
          <a:ext cx="11826068" cy="6097393"/>
        </p:xfrm>
        <a:graphic>
          <a:graphicData uri="http://schemas.openxmlformats.org/drawingml/2006/table">
            <a:tbl>
              <a:tblPr/>
              <a:tblGrid>
                <a:gridCol w="67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7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48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4811">
                  <a:extLst>
                    <a:ext uri="{9D8B030D-6E8A-4147-A177-3AD203B41FA5}">
                      <a16:colId xmlns:a16="http://schemas.microsoft.com/office/drawing/2014/main" val="2208545563"/>
                    </a:ext>
                  </a:extLst>
                </a:gridCol>
              </a:tblGrid>
              <a:tr h="31101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Offline Room 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9:00-09:30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 Opening of the meeting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 Approval of the agenda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 Letters / reports from other groups / meetings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 Incoming LS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5. 6GR SI Workplan (R4-2621469)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6. Timeline of R21 5GA spec/CR (R4-262160)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7. RAN task related to RAN4/5 coordination (AI 8.11.4)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</a:t>
                      </a:r>
                      <a:r>
                        <a:rPr kumimoji="0" lang="zh-CN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[101-B] System Parameter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[201] NR_RRM_Ph6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[340] NR_UE_RF_Ph5 (19)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[342]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NR_low_band_CA_switching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(5)</a:t>
                      </a: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(until 11:00)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Aijun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9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505560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11:00-13:00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[101-A] System Parameter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[211] FS_NR_demod_SCM 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[346] NR_IoT_NTN_Ph2 (40)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[347] NR_IoT_NTN_Ph2_Part2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[105-A] 6G RRM Chaired by Jerry (Apple)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—12:00—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[105-B] 6G RRM Chaired by Jin-Yup (LGE)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9250"/>
                  </a:ext>
                </a:extLst>
              </a:tr>
              <a:tr h="197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점심시간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1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-16:30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[218] NR_AIML_air_Ph2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(cont)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[350] LTE_TN_NR_NTN_handover (14)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[348] NR_IoT_NTN_Ph2_Part3_RRM (20)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[349] NR_NTN_GNSS_resilient (9)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5G BSRF (14:30 – 15:30)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[345] NR_BS_RF_Ph2, chaired by Torbjörn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Ad-hoc: 6G testability/OTA (15:30-16:30)</a:t>
                      </a:r>
                      <a:endParaRPr kumimoji="0" lang="nn-NO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[217] 6G testability and OTA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Ruixin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435348"/>
                  </a:ext>
                </a:extLst>
              </a:tr>
              <a:tr h="7796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[108] Spectrum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sharing</a:t>
                      </a:r>
                      <a:r>
                        <a:rPr kumimoji="0" lang="zh-CN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NR_MIMO_Ph6_RRM</a:t>
                      </a:r>
                      <a:endParaRPr lang="en-US" altLang="zh-CN" sz="800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[351]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LTE_IoT_NTN_high_power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(11)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[356]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NR_IoT_extended_guardband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(17) (Continued Weds morning)</a:t>
                      </a:r>
                      <a:endParaRPr kumimoji="0" lang="en-US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OTA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[216]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NR_UE_OTA_Enh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Ruixin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AI, Chaired by Jackson (Samsung)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[102-A] 6G General RF and UE RF, Chaired by Toni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</a:t>
                      </a: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[218] NR_AIML_air_Ph2, Chaired by Tom (E///)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 Sensing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6G_Sensing, chaired by Fei (ZTE)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R20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[201] NR_RRM_Ph6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Zhixun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Tang (E///)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NR_AIML_Mob_RRM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Qiuge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Guo (OPPO)  (18.00-19.00)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04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130320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Tuesday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740551"/>
              </p:ext>
            </p:extLst>
          </p:nvPr>
        </p:nvGraphicFramePr>
        <p:xfrm>
          <a:off x="251209" y="1410676"/>
          <a:ext cx="11353429" cy="5821680"/>
        </p:xfrm>
        <a:graphic>
          <a:graphicData uri="http://schemas.openxmlformats.org/drawingml/2006/table">
            <a:tbl>
              <a:tblPr/>
              <a:tblGrid>
                <a:gridCol w="648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0925">
                  <a:extLst>
                    <a:ext uri="{9D8B030D-6E8A-4147-A177-3AD203B41FA5}">
                      <a16:colId xmlns:a16="http://schemas.microsoft.com/office/drawing/2014/main" val="84003688"/>
                    </a:ext>
                  </a:extLst>
                </a:gridCol>
              </a:tblGrid>
              <a:tr h="1729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</a:t>
                      </a:r>
                      <a:r>
                        <a:rPr kumimoji="0" lang="en-US" altLang="zh-CN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RRM_Demod_OTA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RF,NTN,A-IOT 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Offline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----9.30-------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[107-B] 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[207] NR_Mob_Ph5_RRM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[209] Ambient_IoT_Ph2_RRM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SI/RAN task: NTN Coexistence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[364] NTN_coexistence (24)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UAV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NR_UAV (14)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Spectrum basket work items (8.30 – 9.30)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[324] NR_CADC_SUL(including band combination database), chaired by Per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NR_UE_RF (9.30 – 10:30)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[340] NR_UE_RF_Ph5, chaired by Alok (Nokia)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10.00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-11.00</a:t>
                      </a: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[101-B] System Parameter,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Jingqiang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(OPPO)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7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516519"/>
                  </a:ext>
                </a:extLst>
              </a:tr>
              <a:tr h="36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NR_demod_Ph6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NR_cov_Ph3_demod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BSRF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[345] NR_BS_RF_Ph2 (21)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BSRF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[360] 6G_BSRF_requirements (26)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5G-A &amp; 6G OTA</a:t>
                      </a: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[216]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NR_UE_OTA_Enh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&amp; 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[217] 6G testability and OTA, Chaired by Ruixin Wang (vivo)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[102-A] 6G General RF and UE RF, Chaired by Toni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점심시간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14:30-16:30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---16:00---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RAN4 operation efficiency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AH: 105-B 6G RRM,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Jinyup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NR_AIML_Mob_RRM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---15:30---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[202] NR_UAV_req_RRM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BSRF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[361] 6G_BSRF_coexistence_AAS (40)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Ambient IoT D2T2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[354]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IoT_indoor_test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chaired by Huiping (Xiaomi)</a:t>
                      </a:r>
                      <a:endParaRPr kumimoji="0" lang="de-DE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NTN HD-FDD and DL CA RRM (15:30 – 16:30)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[348] NR_IoT_NTN_Ph2_Part3_RRM chaired by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Jinyeong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(LGE)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[211]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FS_NR_demod_SCM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Axel Mueller (Nokia)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----15.30---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[107-B] 6G AI, Chaired by Santhan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311092"/>
                  </a:ext>
                </a:extLst>
              </a:tr>
              <a:tr h="36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RAN4 operation efficiency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 Cont.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NR_AIML_Mob_RRM 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 BSRF (cont)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[108] Spectrum sharing, Chaired by </a:t>
                      </a:r>
                      <a:r>
                        <a:rPr kumimoji="0" lang="en-GB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jingjing</a:t>
                      </a: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(CMCC)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[208]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NR_NTN_GNSS_resilient_RRM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Dorin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[104-A] Spectrum, Chaired by Johannes(Nokia)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RRM Ad-hoc: 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NR_AIML_Mob_RRM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Qiuge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Guo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(OPPO) 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[361] 6G_BSRF_coexistence_AAS,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coexistence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part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Michal (Huawei)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[101-A] System Parameter, Chaired by Leo (Huawei)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[349]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NR_NTN_GNSS_resilient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Dorin</a:t>
                      </a: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555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21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-156892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Wednesday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703769"/>
              </p:ext>
            </p:extLst>
          </p:nvPr>
        </p:nvGraphicFramePr>
        <p:xfrm>
          <a:off x="279896" y="664562"/>
          <a:ext cx="11510454" cy="5886945"/>
        </p:xfrm>
        <a:graphic>
          <a:graphicData uri="http://schemas.openxmlformats.org/drawingml/2006/table">
            <a:tbl>
              <a:tblPr/>
              <a:tblGrid>
                <a:gridCol w="75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63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6329">
                  <a:extLst>
                    <a:ext uri="{9D8B030D-6E8A-4147-A177-3AD203B41FA5}">
                      <a16:colId xmlns:a16="http://schemas.microsoft.com/office/drawing/2014/main" val="3371434974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</a:t>
                      </a:r>
                      <a:r>
                        <a:rPr kumimoji="0" lang="en-US" altLang="zh-CN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RRM_Demod_OTA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RF,NTN,A-IOT 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Offline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81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[107-B] 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OTA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[217] 6G testability and OTA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[216] NR_UE_OTA_Enh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Start at 8:00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[356]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NR_IoT_extended_guardband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(17) (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 – 10:30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[371] A-MPR_JSON (4)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[355] NR_PC1_UL_MIMO_n100_n101 (4)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[353]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(32)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1E9657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BR1 Ad-hoc:</a:t>
                      </a:r>
                      <a:r>
                        <a:rPr kumimoji="0" lang="en-GB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(8:30-9:30)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[211]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FS_NR_demod_SCM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Axel Mueller (Nokia)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1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BR2 Ad-hoc: NTN features R20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[323] NTN_Bands_Features_R20, chaired by Daniel (Apple)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----9.30------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[102-B]  6G General RF and UE RF,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Haijie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(Xiaomi)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break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AH: [346] PC1.5  NR-NTN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Tank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49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554715"/>
                  </a:ext>
                </a:extLst>
              </a:tr>
              <a:tr h="398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OTA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[216] NR_UE_OTA_Enh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---12:00---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6G Demod_Part1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 (</a:t>
                      </a:r>
                      <a:r>
                        <a:rPr kumimoji="0" 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[353]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(32) (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[354]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IoT_indoor_test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(17)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 feasibility (17)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Ad-hoc: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AI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[218] NR_AIML_air_Ph2, Chaired by Tom (E///)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---12:00----------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[217] RAN4/RAN5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responsibility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split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for RRM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performance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Ruixin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점심시간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5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</a:t>
                      </a:r>
                      <a:r>
                        <a:rPr kumimoji="0" lang="pt-B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break AH: [105-A] 6G RRM, </a:t>
                      </a:r>
                      <a:r>
                        <a:rPr kumimoji="0" lang="pt-B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pt-B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pt-B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pt-B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Jerry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6G Demod_Part1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Cont.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[215] 6G Demod_Part2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 coex, req, test (cont)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 feasibility (17)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14:30-15:30</a:t>
                      </a: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[101-B] System Parameter,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Jingqiang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(OPPO)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---15:30---</a:t>
                      </a:r>
                      <a:endParaRPr kumimoji="0" lang="en-GB" altLang="zh-CN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 sys param and D4T1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[353]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chaired by Linling (Huawei)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 chaired by Jackson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9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68582"/>
                  </a:ext>
                </a:extLst>
              </a:tr>
              <a:tr h="5344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[102-A] General RF and UE RF, chaired by Toni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[215] 6G Demod_Part2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Cont.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 (cont)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[107-B] 6G AI, Chaired by Santhan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[208]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NR_NTN_GNSS_resilient_RRM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nn-NO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Dorin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[102-B] 6G General RF and UE RF,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Haijie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(Xiaomi)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 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5G-A &amp; 6G OTA</a:t>
                      </a: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[216]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NR_UE_OTA_Enh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&amp; 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[217] 6G testability and OTA, Chaired by Ruixin Wang (vivo)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Adhoc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6G BSRF requirements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[360] 6G_BSRF_requirements, chaired by Dominique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[105-A] 6G RRM Chaired by Jerry (Apple)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---18:45---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[105-B] 6G RRM Chaired by Jin-Yup (LGE)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-TN and NTN coexistence chaired by Shubham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92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163323"/>
              </p:ext>
            </p:extLst>
          </p:nvPr>
        </p:nvGraphicFramePr>
        <p:xfrm>
          <a:off x="401652" y="744794"/>
          <a:ext cx="11318156" cy="7434006"/>
        </p:xfrm>
        <a:graphic>
          <a:graphicData uri="http://schemas.openxmlformats.org/drawingml/2006/table">
            <a:tbl>
              <a:tblPr/>
              <a:tblGrid>
                <a:gridCol w="708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8318">
                  <a:extLst>
                    <a:ext uri="{9D8B030D-6E8A-4147-A177-3AD203B41FA5}">
                      <a16:colId xmlns:a16="http://schemas.microsoft.com/office/drawing/2014/main" val="2928981469"/>
                    </a:ext>
                  </a:extLst>
                </a:gridCol>
              </a:tblGrid>
              <a:tr h="35058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</a:t>
                      </a:r>
                      <a:r>
                        <a:rPr kumimoji="0" lang="en-US" altLang="zh-CN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RRM_Demod_OTA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RF,NTN,A-IOT 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Offline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96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112] TEI20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[113] R18 maintenance: PC2 FDD HPUE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duty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cycle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EARLY RETURN TO (in the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following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order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system parameter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[203] NR_LBCA_Sw_enh_RRM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R4-2621419 (Reply to RAN1 LS on scheduling restriction for RACH-related signals and channels)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[208] NR_NTN_GNSS_resilient_RRM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basket and spectrum WI</a:t>
                      </a:r>
                      <a:endParaRPr kumimoji="0" lang="en-GB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[320] NR_LTE_combos_Features_R20 (9)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[321] DC_xBLTE_yBNR_R20 (4)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[322] NR_bands_Features_R20 (3)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[323] NTN_Bands_Features_R20 (14)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[324] NR_CADC_SUL_R20 (34)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[325] NR_Bands_BW_PC_BC_RedCap (12)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[329]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New_CBW_5G_broadcast_over_GSO (1)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[330] NR_LTE_1900MHz_TN_bands (17)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[331]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NR_HAPS_SUL_combos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offline discussion on 1900 MHz TN bands, chaired by Toliy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Demod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[215] 6G Demod_Part1&amp;Part2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31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618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----11:10----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system parameter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NR_RRM_Ph6_demod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[204]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NR_IncMon_RRM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BDaT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Early Return To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 GHz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sensing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Sensing feasibility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 feasibility, </a:t>
                      </a:r>
                      <a:r>
                        <a:rPr kumimoji="0" lang="nn-NO" altLang="zh-CN" sz="800" b="0" i="0" u="none" strike="sng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Pierpaolo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</a:t>
                      </a: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Ad-hoc: </a:t>
                      </a:r>
                      <a:endParaRPr lang="en-US" altLang="zh-CN" sz="800" b="1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0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RRM</a:t>
                      </a:r>
                      <a:endParaRPr lang="en-US" altLang="zh-CN" sz="800" b="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[208] NR_NTN_GNSS_resilient_RRM </a:t>
                      </a:r>
                      <a:r>
                        <a:rPr lang="en-US" altLang="zh-CN" sz="800" b="0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</a:t>
                      </a:r>
                      <a:r>
                        <a:rPr lang="en-US" altLang="zh-CN" sz="800" b="0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lang="en-US" altLang="zh-CN" sz="800" b="0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Dorin</a:t>
                      </a:r>
                      <a:r>
                        <a:rPr lang="en-US" altLang="zh-CN" sz="800" b="0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(Thales)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---12:00---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NR_Mob_Ph5_RRM</a:t>
                      </a:r>
                      <a:r>
                        <a:rPr lang="en-US" altLang="zh-CN" sz="800" b="0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 Chaired by Hua</a:t>
                      </a:r>
                      <a:r>
                        <a:rPr lang="en-US" altLang="zh-CN" sz="800" b="0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Li </a:t>
                      </a:r>
                      <a:r>
                        <a:rPr lang="en-US" altLang="zh-CN" sz="800" b="0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(Apple)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strike="noStrike" kern="1200" dirty="0">
                        <a:solidFill>
                          <a:srgbClr val="FF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1E9657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~7GHz TN co-ex topic., chaired by Michal (Huawei)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strike="noStrike" kern="1200" dirty="0">
                        <a:solidFill>
                          <a:srgbClr val="FF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strike="noStrike" kern="1200" dirty="0">
                        <a:solidFill>
                          <a:srgbClr val="FF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2FBD7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----12:00----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2FBD7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[216] </a:t>
                      </a:r>
                      <a:r>
                        <a:rPr lang="en-US" altLang="zh-CN" sz="800" b="1" strike="noStrike" kern="1200" dirty="0" err="1">
                          <a:solidFill>
                            <a:srgbClr val="2FBD7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NR_UE_OTA_Enh</a:t>
                      </a:r>
                      <a:r>
                        <a:rPr lang="en-US" altLang="zh-CN" sz="800" b="1" strike="noStrike" kern="1200" dirty="0">
                          <a:solidFill>
                            <a:srgbClr val="2FBD7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performance part, Chaired by </a:t>
                      </a:r>
                      <a:r>
                        <a:rPr lang="en-US" altLang="zh-CN" sz="800" b="1" strike="noStrike" kern="1200" dirty="0" err="1">
                          <a:solidFill>
                            <a:srgbClr val="2FBD7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Ruixin</a:t>
                      </a:r>
                      <a:r>
                        <a:rPr lang="en-US" altLang="zh-CN" sz="800" b="1" strike="noStrike" kern="1200" dirty="0">
                          <a:solidFill>
                            <a:srgbClr val="2FBD7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Wang (vivo)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strike="noStrike" kern="1200" dirty="0">
                        <a:solidFill>
                          <a:srgbClr val="FF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점심시간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49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6G spectrum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6G spectrum sharing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6G RRM (not earlier than 3pm)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6G AI (107-B): LS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6G operation efficiency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Ad-hoc: </a:t>
                      </a:r>
                      <a:endParaRPr lang="en-US" altLang="zh-CN" sz="800" b="1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NR_AIML_Mob_RRM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Qiuge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Guo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(OPPO) 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NOTE: To avoid the conflict with Main session, and 17:00-18:00 can also be sued for AI mobility  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2FBD7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Sensing feasibility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 feasibility, chaired by Pierpaolo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-----15:30-----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Sensing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 coex, req, test, chaired by Fei (ZTE(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NTN Rel-20 PC1.5 NR NTN &amp; RF DL CA</a:t>
                      </a: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[346] PC1.5 NR NTN &amp; NTN Rel-20 RF DL CA chaired by Tank (CHTTL)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14.30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-15.30</a:t>
                      </a: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[101-B] System Parameter,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Jingqiang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(OPPO)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------15:30------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[102-B] 6G General RF and UE RF,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Haijie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(Xiaomi)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strike="noStrike" kern="1200" dirty="0">
                        <a:solidFill>
                          <a:srgbClr val="1E9657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break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AH: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[102-A] 6G General RF and UE RF, Chaired by Toni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7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998595"/>
                  </a:ext>
                </a:extLst>
              </a:tr>
              <a:tr h="2027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[101-A] System Parameter, Chaired by Leo (Huawei)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NTN Rel-20 HD-FDD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[347] NR_IoT_NTN_Ph2_Part2 chaired by Jeffery (MTK)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[104-B] Spectrum, Chaired by Bo (CT)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[211]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FS_NR_demod_SCM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Axel Mueller (Nokia)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34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AI, Chaired by Jackson (Samsung)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BD7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[208] NR_NTN_GNSS_resilient_RRM, </a:t>
                      </a:r>
                      <a:r>
                        <a:rPr lang="en-US" altLang="zh-CN" sz="800" b="0" strike="noStrike" kern="1200" dirty="0"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lang="en-US" altLang="zh-CN" sz="800" b="0" strike="noStrike" kern="1200" baseline="0" dirty="0">
                          <a:solidFill>
                            <a:srgbClr val="2FBD7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Dorin (Thales)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Ambient-IoT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Ling (Huawei) and/or Huiping (Xiaomi)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[102-A/B] System Parameter, Chaired by Leo (Huawei)/Jinqiang (OPPO)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Aijun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E9657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92" y="-83247"/>
            <a:ext cx="9263641" cy="1143001"/>
          </a:xfrm>
        </p:spPr>
        <p:txBody>
          <a:bodyPr/>
          <a:lstStyle/>
          <a:p>
            <a:r>
              <a:rPr lang="en-US" altLang="zh-CN" b="1" dirty="0"/>
              <a:t>Thursday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837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130320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Friday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604779"/>
              </p:ext>
            </p:extLst>
          </p:nvPr>
        </p:nvGraphicFramePr>
        <p:xfrm>
          <a:off x="239391" y="1416731"/>
          <a:ext cx="11657335" cy="3914116"/>
        </p:xfrm>
        <a:graphic>
          <a:graphicData uri="http://schemas.openxmlformats.org/drawingml/2006/table">
            <a:tbl>
              <a:tblPr/>
              <a:tblGrid>
                <a:gridCol w="789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</a:t>
                      </a:r>
                      <a:r>
                        <a:rPr kumimoji="0" lang="en-US" altLang="zh-CN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RRM_Demod_OTA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RF,NTN,A-IOT 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system parameter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spectrum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spectrum sharing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PHY AI and AI mobility</a:t>
                      </a: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</a:t>
                      </a:r>
                      <a:r>
                        <a:rPr lang="en-US" altLang="zh-CN" sz="8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 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(start at 8:30)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Spectrum baskets [320], [323],[324],[325],[330]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JSON [371], UAV [352], PCI FRMCS [355]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UE RF [340], [342]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BSRF [345]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[346], [347], [348], [349], [350], [351], [356]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ad-hoc: 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Sensing feasibility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Finalize the WF, chaired by Pierpaolo (Qualcomm)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커피 타임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134724"/>
                  </a:ext>
                </a:extLst>
              </a:tr>
              <a:tr h="590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:00-12:45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operation efficiency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 Any other business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 Close of the meeting (main session)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OTA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BSRF [360]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 err="1"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NTN_coexistence</a:t>
                      </a:r>
                      <a:r>
                        <a:rPr lang="en-US" altLang="zh-CN" sz="800" b="0" i="0" u="none" strike="noStrike" kern="1200" dirty="0"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[364]</a:t>
                      </a: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A-IoT [353][354]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</a:t>
                      </a:r>
                      <a:r>
                        <a:rPr lang="en-US" altLang="zh-CN" sz="800" b="0" i="0" u="none" strike="noStrike" kern="1200" dirty="0" err="1"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coex</a:t>
                      </a:r>
                      <a:r>
                        <a:rPr lang="en-US" altLang="zh-CN" sz="800" b="0" i="0" u="none" strike="noStrike" kern="1200" dirty="0"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[361]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Sensing [362], [363]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:45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-13:45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점심시간</a:t>
                      </a: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3815"/>
                  </a:ext>
                </a:extLst>
              </a:tr>
              <a:tr h="5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14:00-EOM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4323F28-A4DC-E527-4CB9-F636E4132C23}"/>
              </a:ext>
            </a:extLst>
          </p:cNvPr>
          <p:cNvSpPr txBox="1"/>
          <p:nvPr/>
        </p:nvSpPr>
        <p:spPr>
          <a:xfrm>
            <a:off x="239391" y="5204147"/>
            <a:ext cx="10882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Depending on the progress and the need, the session chair(s) may introduce additional morning AH sessions, starting no earlier than 8 am.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633097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gpp">
  <a:themeElements>
    <a:clrScheme name="3gpp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ts val="60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ts val="60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3gpp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552158F8185D44A8848B98AEA319AF" ma:contentTypeVersion="12" ma:contentTypeDescription="Create a new document." ma:contentTypeScope="" ma:versionID="6a36ef4f892f86ce52de6a1653dbd950">
  <xsd:schema xmlns:xsd="http://www.w3.org/2001/XMLSchema" xmlns:xs="http://www.w3.org/2001/XMLSchema" xmlns:p="http://schemas.microsoft.com/office/2006/metadata/properties" xmlns:ns3="a915fe38-2618-47b6-8303-829fb71466d5" xmlns:ns4="23d77754-4ccc-4c57-9291-cab09e81894a" targetNamespace="http://schemas.microsoft.com/office/2006/metadata/properties" ma:root="true" ma:fieldsID="f7034ffd361f586299d0e2788fe1325b" ns3:_="" ns4:_="">
    <xsd:import namespace="a915fe38-2618-47b6-8303-829fb71466d5"/>
    <xsd:import namespace="23d77754-4ccc-4c57-9291-cab09e81894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15fe38-2618-47b6-8303-829fb7146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77754-4ccc-4c57-9291-cab09e81894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070948-0CB2-4F99-ACC8-E715860BC6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4266F6-0ED4-4E4E-9B55-710101289C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15fe38-2618-47b6-8303-829fb71466d5"/>
    <ds:schemaRef ds:uri="23d77754-4ccc-4c57-9291-cab09e8189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C68143-B530-4487-9EA7-5BCC5970B48F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23d77754-4ccc-4c57-9291-cab09e81894a"/>
    <ds:schemaRef ds:uri="http://schemas.openxmlformats.org/package/2006/metadata/core-properties"/>
    <ds:schemaRef ds:uri="a915fe38-2618-47b6-8303-829fb71466d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610448</TotalTime>
  <Words>2831</Words>
  <Application>Microsoft Macintosh PowerPoint</Application>
  <PresentationFormat>Widescreen</PresentationFormat>
  <Paragraphs>460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Arial Black</vt:lpstr>
      <vt:lpstr>Calibri</vt:lpstr>
      <vt:lpstr>Times New Roman</vt:lpstr>
      <vt:lpstr>3gpp</vt:lpstr>
      <vt:lpstr>RAN4#120bis Meeting Schedule</vt:lpstr>
      <vt:lpstr>Monday</vt:lpstr>
      <vt:lpstr>Tuesday</vt:lpstr>
      <vt:lpstr>Wednesday</vt:lpstr>
      <vt:lpstr>Thursday</vt:lpstr>
      <vt:lpstr>Friday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RAN4 #118 meeting schedule</dc:title>
  <dc:creator>Administrator</dc:creator>
  <cp:keywords>CTPClassification=CTP_NT</cp:keywords>
  <cp:lastModifiedBy>Yang Tang</cp:lastModifiedBy>
  <cp:revision>4412</cp:revision>
  <cp:lastPrinted>2016-09-15T08:31:35Z</cp:lastPrinted>
  <dcterms:created xsi:type="dcterms:W3CDTF">2009-11-27T05:15:11Z</dcterms:created>
  <dcterms:modified xsi:type="dcterms:W3CDTF">2026-10-15T13:14:01Z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TitusGUID">
    <vt:lpwstr>6f9c0495-a83c-462b-8664-67016d5bf2d5</vt:lpwstr>
  </property>
  <property fmtid="{D5CDD505-2E9C-101B-9397-08002B2CF9AE}" pid="4" name="CTP_TimeStamp">
    <vt:lpwstr>2020-06-04 10:01:06Z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  <property fmtid="{D5CDD505-2E9C-101B-9397-08002B2CF9AE}" pid="9" name="ContentTypeId">
    <vt:lpwstr>0x010100F2552158F8185D44A8848B98AEA319AF</vt:lpwstr>
  </property>
  <property fmtid="{D5CDD505-2E9C-101B-9397-08002B2CF9AE}" pid="10" name="_2015_ms_pID_725343">
    <vt:lpwstr>(3)WmCX6XJXnVGYXJet/b3Cj8Rn7P85nC/Cu/Iv04k3M5rgJfICxdLbw0IbFfZbsZTDgXvh19dg
LZAQ8DvGq0yxnJm6oaoPZcJxJj7cT96WpFjVFCYDEfWZBGGLg0Hk7yiICIawbHPmphpNxd4d
NXIhFfCL8uuLn5Mf1lOCr0UG6iGdNowsUKmiqgEY/9lVNg1dohnQ3NyAwOOwT9vQOjw2IxrA
NP4gXAZDSgGLq/h2PN</vt:lpwstr>
  </property>
  <property fmtid="{D5CDD505-2E9C-101B-9397-08002B2CF9AE}" pid="11" name="_2015_ms_pID_7253431">
    <vt:lpwstr>H8aKn1tKtJkz0uZ5pdba1vdFQx2H6oSmdQ9HF3vykmrih/07Pra3Dd
s5GYVd+6uIn1eoaajDgTee4bvz2dkce8aPxsZ63AMleypWNeC/VutvSdbhBxdLZZEMLSbfS+
3/pmGq2g6cfO1GOY4K1ER1nIPxQMcMRLaUIWc5fV0A2zfPey8DiH86nOW+3fe6sA3YApjGWJ
d3VT8M6oyU5MWIdQwfBweVp7iLgPjr7vKCEQ</vt:lpwstr>
  </property>
  <property fmtid="{D5CDD505-2E9C-101B-9397-08002B2CF9AE}" pid="12" name="_2015_ms_pID_7253432">
    <vt:lpwstr>vv4OgNkLvT4KwGFYJJzDz94=</vt:lpwstr>
  </property>
  <property fmtid="{D5CDD505-2E9C-101B-9397-08002B2CF9AE}" pid="13" name="_readonly">
    <vt:lpwstr/>
  </property>
  <property fmtid="{D5CDD505-2E9C-101B-9397-08002B2CF9AE}" pid="14" name="_change">
    <vt:lpwstr/>
  </property>
  <property fmtid="{D5CDD505-2E9C-101B-9397-08002B2CF9AE}" pid="15" name="_full-control">
    <vt:lpwstr/>
  </property>
  <property fmtid="{D5CDD505-2E9C-101B-9397-08002B2CF9AE}" pid="16" name="sflag">
    <vt:lpwstr>1744642617</vt:lpwstr>
  </property>
</Properties>
</file>